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2" r:id="rId2"/>
    <p:sldId id="707" r:id="rId3"/>
    <p:sldId id="708" r:id="rId4"/>
    <p:sldId id="593" r:id="rId5"/>
    <p:sldId id="594" r:id="rId6"/>
    <p:sldId id="595" r:id="rId7"/>
    <p:sldId id="596" r:id="rId8"/>
    <p:sldId id="597" r:id="rId9"/>
    <p:sldId id="598" r:id="rId10"/>
    <p:sldId id="599" r:id="rId11"/>
    <p:sldId id="709" r:id="rId12"/>
    <p:sldId id="710" r:id="rId13"/>
    <p:sldId id="601" r:id="rId14"/>
    <p:sldId id="689" r:id="rId15"/>
    <p:sldId id="696" r:id="rId16"/>
    <p:sldId id="711" r:id="rId17"/>
    <p:sldId id="258" r:id="rId18"/>
    <p:sldId id="714" r:id="rId19"/>
    <p:sldId id="715" r:id="rId20"/>
    <p:sldId id="712" r:id="rId21"/>
    <p:sldId id="713" r:id="rId22"/>
    <p:sldId id="695" r:id="rId23"/>
    <p:sldId id="605" r:id="rId24"/>
    <p:sldId id="697" r:id="rId25"/>
    <p:sldId id="698" r:id="rId26"/>
    <p:sldId id="607" r:id="rId27"/>
    <p:sldId id="609" r:id="rId28"/>
    <p:sldId id="6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6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2B56-AFE7-CC83-219A-B6F0ADB5F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A5CFF-2BB6-48A0-2978-5BD517308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4F4C-F604-CBAF-44CA-93E0BCE3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335A-5BA9-E59A-6029-54DDC87F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55EB-87C1-E292-4EA1-21576216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16D2-BD28-9556-015E-61DB37FE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C32A-25E8-B294-F1D2-BCDDB8D2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791D-C762-2D37-C521-DC91186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F810-7A11-2A66-26C9-A8F68A6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06AE-E339-6BF3-74A2-B25ACDB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2122-11D3-4566-F616-3E6F43E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D551-3566-F150-16AC-E3A028FF0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92AC-FA2F-8132-EF85-3D5E7586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1F8E-0560-E1A8-F77D-A0F9D669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B8EA-8860-91D2-F815-6F4BC846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8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62FC-AEB2-EA25-CD0C-74DDEBE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EC0A-7013-B00D-8EF6-3321C980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89D7A-0266-33FB-5DC7-E0A3373BC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F90A-25CB-985A-3912-6BD297DF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8A397-03CF-3779-8F1D-D960AA53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45EF-071F-1619-EBB3-ECFD4407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96A0-276F-6547-FDB8-8F6019BD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52B86-508C-93E1-511A-31410EEE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6B401-F1AC-14F8-19BC-C406E7A49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501D2-154B-28A8-DA4F-B8BE9F393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1B02C-2A69-3A49-F331-44F9FAD22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B9C3B-8EBD-1C15-19EA-9D1CD3F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032-61B7-0F47-4354-EEE55934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514F-3402-5BB2-D7C2-F9D59125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432F-46CA-45A8-9845-4E85235B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43689-C535-73C9-A477-C53F6D0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22AF-AA00-6A77-B1D2-F8202FC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39D77-9D05-0161-193D-9D812135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52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B83DC-AB24-873C-4189-B1D8219A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56F4A-4581-F802-2FE9-99F2AAB2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B5AC-8F99-A667-42D4-FF949F61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8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1EF5-CB87-419D-7B7A-4D9911DE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6142-DAE1-E63F-8331-360ADA5B8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361C8-FC1E-4DB7-F56C-A8D06446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2A40-5969-7E80-CD0C-2DE1F925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00D3-69BC-C6F3-C8AA-E48A105A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333A7-EAD6-185F-F490-38895F20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D8B8-3AFF-3D70-AE7C-393EC094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84E44-858F-3904-72F9-57F07930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434CB-57D8-F250-140B-409C647E8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BBB5B-F269-34EF-C9F2-2C894A5A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99C46-146F-BEEB-26B7-EAA3B60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941E-1617-4D00-3784-CF89119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77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B89B-22CC-4FD3-3449-02FB064C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3FEC-2DCC-2982-3316-1D8014370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8278-F8DB-D96D-FE3B-93C9F4EC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2B-4F66-3481-4C31-BEFE4C64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A4FF-43B3-E267-710A-64286363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2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CBBB0-E4E8-AD43-1CCD-9233FA519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7B6FD-51AC-CA04-0BD2-1CA393B08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D1D4-0BB4-A6FD-896B-B25B010E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6C92-4E90-8E12-EF5E-EA1BE896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485E-6CA6-50DF-B5D5-3A940EAD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8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94973-2AE5-20F6-4B0D-32CFB1C0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2E064-9C13-7839-747B-1ACE61CB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9476B-985B-5BF0-BD93-FA52A6F9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5E443-610D-42A0-9868-A4C7882CB108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D32B6-8C23-DC1C-B219-6FD1D0EDF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6D8F-79BF-B922-368C-E427C38A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46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3) LangGraph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Approaches to Work with LLMs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OOP-style (Manual)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 err="1"/>
                        <a:t>LangChain</a:t>
                      </a:r>
                      <a:r>
                        <a:rPr lang="en-GB" sz="1600" b="1" dirty="0"/>
                        <a:t> (LCEL)</a:t>
                      </a:r>
                      <a:endParaRPr lang="en-GB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 err="1"/>
                        <a:t>LangGraph</a:t>
                      </a:r>
                      <a:endParaRPr lang="en-GB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Core idea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Functional &amp; declarative LLM “chains” using the </a:t>
                      </a:r>
                      <a:r>
                        <a:rPr lang="en-US" sz="1600" b="1" dirty="0" err="1"/>
                        <a:t>LangChain</a:t>
                      </a:r>
                      <a:r>
                        <a:rPr lang="en-US" sz="1600" b="1" dirty="0"/>
                        <a:t> Expression Language (LCEL)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Level of abstraction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State management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Error handling / control flow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Reactivity / branching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Use case fit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Example use case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Same, but wrapped in a </a:t>
                      </a:r>
                      <a:r>
                        <a:rPr lang="en-US" sz="1600" dirty="0" err="1"/>
                        <a:t>LangChain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the Approaches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545-4695-D264-A58A-1DF7F589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openai</a:t>
            </a:r>
            <a:r>
              <a:rPr lang="en-IN" sz="1200" dirty="0"/>
              <a:t> import OpenAI</a:t>
            </a:r>
          </a:p>
          <a:p>
            <a:r>
              <a:rPr lang="en-IN" sz="1200" dirty="0"/>
              <a:t>client = OpenAI()</a:t>
            </a:r>
          </a:p>
          <a:p>
            <a:endParaRPr lang="en-IN" sz="1200" dirty="0"/>
          </a:p>
          <a:p>
            <a:r>
              <a:rPr lang="en-IN" sz="1200" dirty="0"/>
              <a:t>text =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</a:t>
            </a:r>
          </a:p>
          <a:p>
            <a:r>
              <a:rPr lang="en-IN" sz="1200" dirty="0"/>
              <a:t>prompt = </a:t>
            </a:r>
            <a:r>
              <a:rPr lang="en-IN" sz="1200" dirty="0" err="1"/>
              <a:t>f"Summarize</a:t>
            </a:r>
            <a:r>
              <a:rPr lang="en-IN" sz="1200" dirty="0"/>
              <a:t> this: {text}"</a:t>
            </a:r>
          </a:p>
          <a:p>
            <a:endParaRPr lang="en-IN" sz="1200" dirty="0"/>
          </a:p>
          <a:p>
            <a:r>
              <a:rPr lang="en-IN" sz="1200" dirty="0"/>
              <a:t>response = </a:t>
            </a:r>
            <a:r>
              <a:rPr lang="en-IN" sz="1200" dirty="0" err="1"/>
              <a:t>client.chat.completions.create</a:t>
            </a:r>
            <a:r>
              <a:rPr lang="en-IN" sz="1200" dirty="0"/>
              <a:t>(</a:t>
            </a:r>
          </a:p>
          <a:p>
            <a:r>
              <a:rPr lang="en-IN" sz="1200" dirty="0"/>
              <a:t>    model="gpt-4o-mini",</a:t>
            </a:r>
          </a:p>
          <a:p>
            <a:r>
              <a:rPr lang="en-IN" sz="1200" dirty="0"/>
              <a:t>    messages=[{"role": "user", "content": prompt}]</a:t>
            </a:r>
          </a:p>
          <a:p>
            <a:r>
              <a:rPr lang="en-IN" sz="1200" dirty="0"/>
              <a:t>)</a:t>
            </a:r>
          </a:p>
          <a:p>
            <a:endParaRPr lang="en-IN" sz="1200" dirty="0"/>
          </a:p>
          <a:p>
            <a:r>
              <a:rPr lang="en-IN" sz="1200" dirty="0"/>
              <a:t>print(</a:t>
            </a:r>
            <a:r>
              <a:rPr lang="en-IN" sz="1200" dirty="0" err="1"/>
              <a:t>response.choices</a:t>
            </a:r>
            <a:r>
              <a:rPr lang="en-IN" sz="1200" dirty="0"/>
              <a:t>[0].</a:t>
            </a:r>
            <a:r>
              <a:rPr lang="en-IN" sz="1200" dirty="0" err="1"/>
              <a:t>message.content</a:t>
            </a:r>
            <a:r>
              <a:rPr lang="en-IN" sz="1200" dirty="0"/>
              <a:t>)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langchain_openai</a:t>
            </a:r>
            <a:r>
              <a:rPr lang="en-IN" sz="1200" dirty="0"/>
              <a:t> import </a:t>
            </a:r>
            <a:r>
              <a:rPr lang="en-IN" sz="1200" dirty="0" err="1"/>
              <a:t>ChatOpenAI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langchain.prompts</a:t>
            </a:r>
            <a:r>
              <a:rPr lang="en-IN" sz="1200" dirty="0"/>
              <a:t> import </a:t>
            </a:r>
            <a:r>
              <a:rPr lang="en-IN" sz="1200" dirty="0" err="1"/>
              <a:t>PromptTemplate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langchain.schema.runnable</a:t>
            </a:r>
            <a:r>
              <a:rPr lang="en-IN" sz="1200" dirty="0"/>
              <a:t> import </a:t>
            </a:r>
            <a:r>
              <a:rPr lang="en-IN" sz="1200" dirty="0" err="1"/>
              <a:t>RunnableMap</a:t>
            </a:r>
            <a:r>
              <a:rPr lang="en-IN" sz="1200" dirty="0"/>
              <a:t>, </a:t>
            </a:r>
            <a:r>
              <a:rPr lang="en-IN" sz="1200" dirty="0" err="1"/>
              <a:t>RunnablePassthrough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llm</a:t>
            </a:r>
            <a:r>
              <a:rPr lang="en-IN" sz="1200" dirty="0"/>
              <a:t> = </a:t>
            </a:r>
            <a:r>
              <a:rPr lang="en-IN" sz="1200" dirty="0" err="1"/>
              <a:t>ChatOpenAI</a:t>
            </a:r>
            <a:r>
              <a:rPr lang="en-IN" sz="1200" dirty="0"/>
              <a:t>(model="gpt-4o-mini")</a:t>
            </a:r>
          </a:p>
          <a:p>
            <a:r>
              <a:rPr lang="en-IN" sz="1200" dirty="0"/>
              <a:t>prompt = </a:t>
            </a:r>
            <a:r>
              <a:rPr lang="en-IN" sz="1200" dirty="0" err="1"/>
              <a:t>PromptTemplate.from_template</a:t>
            </a:r>
            <a:r>
              <a:rPr lang="en-IN" sz="1200" dirty="0"/>
              <a:t>("Summarize this: {text}")</a:t>
            </a:r>
          </a:p>
          <a:p>
            <a:endParaRPr lang="en-IN" sz="1200" dirty="0"/>
          </a:p>
          <a:p>
            <a:r>
              <a:rPr lang="en-IN" sz="1200" dirty="0"/>
              <a:t>chain = {"text": </a:t>
            </a:r>
            <a:r>
              <a:rPr lang="en-IN" sz="1200" dirty="0" err="1"/>
              <a:t>RunnablePassthrough</a:t>
            </a:r>
            <a:r>
              <a:rPr lang="en-IN" sz="1200" dirty="0"/>
              <a:t>()} | prompt | </a:t>
            </a:r>
            <a:r>
              <a:rPr lang="en-IN" sz="1200" dirty="0" err="1"/>
              <a:t>llm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result = </a:t>
            </a:r>
            <a:r>
              <a:rPr lang="en-IN" sz="1200" dirty="0" err="1"/>
              <a:t>chain.invoke</a:t>
            </a:r>
            <a:r>
              <a:rPr lang="en-IN" sz="1200" dirty="0"/>
              <a:t>({"text":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LLMs."})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result.content</a:t>
            </a:r>
            <a:r>
              <a:rPr lang="en-IN" sz="12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langgraph.graph</a:t>
            </a:r>
            <a:r>
              <a:rPr lang="en-IN" sz="1200" dirty="0"/>
              <a:t> import Graph, END</a:t>
            </a:r>
          </a:p>
          <a:p>
            <a:r>
              <a:rPr lang="en-IN" sz="1200" dirty="0"/>
              <a:t>from </a:t>
            </a:r>
            <a:r>
              <a:rPr lang="en-IN" sz="1200" dirty="0" err="1"/>
              <a:t>langchain_openai</a:t>
            </a:r>
            <a:r>
              <a:rPr lang="en-IN" sz="1200" dirty="0"/>
              <a:t> import </a:t>
            </a:r>
            <a:r>
              <a:rPr lang="en-IN" sz="1200" dirty="0" err="1"/>
              <a:t>ChatOpenAI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llm</a:t>
            </a:r>
            <a:r>
              <a:rPr lang="en-IN" sz="1200" dirty="0"/>
              <a:t> = </a:t>
            </a:r>
            <a:r>
              <a:rPr lang="en-IN" sz="1200" dirty="0" err="1"/>
              <a:t>ChatOpenAI</a:t>
            </a:r>
            <a:r>
              <a:rPr lang="en-IN" sz="1200" dirty="0"/>
              <a:t>(model="gpt-4o-mini")</a:t>
            </a:r>
          </a:p>
          <a:p>
            <a:endParaRPr lang="en-IN" sz="1200" dirty="0"/>
          </a:p>
          <a:p>
            <a:r>
              <a:rPr lang="en-IN" sz="1200" dirty="0"/>
              <a:t># Define the node (a summarization step)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summarize_node</a:t>
            </a:r>
            <a:r>
              <a:rPr lang="en-IN" sz="1200" dirty="0"/>
              <a:t>(state):</a:t>
            </a:r>
          </a:p>
          <a:p>
            <a:r>
              <a:rPr lang="en-IN" sz="1200" dirty="0"/>
              <a:t>    text = state["text"]</a:t>
            </a:r>
          </a:p>
          <a:p>
            <a:r>
              <a:rPr lang="en-IN" sz="1200" dirty="0"/>
              <a:t>    prompt = </a:t>
            </a:r>
            <a:r>
              <a:rPr lang="en-IN" sz="1200" dirty="0" err="1"/>
              <a:t>f"Summarize</a:t>
            </a:r>
            <a:r>
              <a:rPr lang="en-IN" sz="1200" dirty="0"/>
              <a:t> this: {text}"</a:t>
            </a:r>
          </a:p>
          <a:p>
            <a:r>
              <a:rPr lang="en-IN" sz="1200" dirty="0"/>
              <a:t>    result = </a:t>
            </a:r>
            <a:r>
              <a:rPr lang="en-IN" sz="1200" dirty="0" err="1"/>
              <a:t>llm.invoke</a:t>
            </a:r>
            <a:r>
              <a:rPr lang="en-IN" sz="1200" dirty="0"/>
              <a:t>(prompt)</a:t>
            </a:r>
          </a:p>
          <a:p>
            <a:r>
              <a:rPr lang="en-IN" sz="1200" dirty="0"/>
              <a:t>    return {"summary": </a:t>
            </a:r>
            <a:r>
              <a:rPr lang="en-IN" sz="1200" dirty="0" err="1"/>
              <a:t>result.content</a:t>
            </a:r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# Build graph</a:t>
            </a:r>
          </a:p>
          <a:p>
            <a:r>
              <a:rPr lang="en-IN" sz="1200" dirty="0"/>
              <a:t>graph = Graph()</a:t>
            </a:r>
          </a:p>
          <a:p>
            <a:r>
              <a:rPr lang="en-IN" sz="1200" dirty="0" err="1"/>
              <a:t>graph.add_node</a:t>
            </a:r>
            <a:r>
              <a:rPr lang="en-IN" sz="1200" dirty="0"/>
              <a:t>("summarize", </a:t>
            </a:r>
            <a:r>
              <a:rPr lang="en-IN" sz="1200" dirty="0" err="1"/>
              <a:t>summarize_node</a:t>
            </a:r>
            <a:r>
              <a:rPr lang="en-IN" sz="1200" dirty="0"/>
              <a:t>)</a:t>
            </a:r>
          </a:p>
          <a:p>
            <a:r>
              <a:rPr lang="en-IN" sz="1200" dirty="0" err="1"/>
              <a:t>graph.set_entry_point</a:t>
            </a:r>
            <a:r>
              <a:rPr lang="en-IN" sz="1200" dirty="0"/>
              <a:t>("summarize")</a:t>
            </a:r>
          </a:p>
          <a:p>
            <a:r>
              <a:rPr lang="en-IN" sz="1200" dirty="0" err="1"/>
              <a:t>graph.add_edge</a:t>
            </a:r>
            <a:r>
              <a:rPr lang="en-IN" sz="1200" dirty="0"/>
              <a:t>("summarize", END)</a:t>
            </a:r>
          </a:p>
          <a:p>
            <a:endParaRPr lang="en-IN" sz="1200" dirty="0"/>
          </a:p>
          <a:p>
            <a:r>
              <a:rPr lang="en-IN" sz="1200" dirty="0"/>
              <a:t># Run</a:t>
            </a:r>
          </a:p>
          <a:p>
            <a:r>
              <a:rPr lang="en-IN" sz="1200" dirty="0"/>
              <a:t>result = </a:t>
            </a:r>
            <a:r>
              <a:rPr lang="en-IN" sz="1200" dirty="0" err="1"/>
              <a:t>graph.invoke</a:t>
            </a:r>
            <a:r>
              <a:rPr lang="en-IN" sz="1200" dirty="0"/>
              <a:t>({"text":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LLMs."})</a:t>
            </a:r>
          </a:p>
          <a:p>
            <a:r>
              <a:rPr lang="en-IN" sz="120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Object-Oriented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LangChain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LangGraph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and 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LangChain</a:t>
            </a:r>
            <a:r>
              <a:rPr lang="en-IN" dirty="0"/>
              <a:t>: Framework to use LLMs as AI agents with access to external tools (APIs, databases, etc)</a:t>
            </a:r>
          </a:p>
          <a:p>
            <a:r>
              <a:rPr lang="en-IN" dirty="0"/>
              <a:t>Works well for </a:t>
            </a:r>
            <a:r>
              <a:rPr lang="en-IN" b="1" dirty="0"/>
              <a:t>single-step </a:t>
            </a:r>
            <a:r>
              <a:rPr lang="en-IN" dirty="0"/>
              <a:t>or simple </a:t>
            </a:r>
            <a:r>
              <a:rPr lang="en-IN" b="1" dirty="0"/>
              <a:t>request-response workflows</a:t>
            </a:r>
            <a:endParaRPr lang="en-IN" dirty="0"/>
          </a:p>
          <a:p>
            <a:r>
              <a:rPr lang="en-US" dirty="0"/>
              <a:t>Not ideal for </a:t>
            </a:r>
            <a:r>
              <a:rPr lang="en-US" b="1" dirty="0"/>
              <a:t>complex, multi-step, stateful workflows</a:t>
            </a:r>
            <a:r>
              <a:rPr lang="en-US" dirty="0"/>
              <a:t> involving multiple agents or actors interacting over time</a:t>
            </a:r>
            <a:endParaRPr lang="en-IN" b="1" dirty="0"/>
          </a:p>
          <a:p>
            <a:r>
              <a:rPr lang="en-IN" dirty="0"/>
              <a:t>Solution: </a:t>
            </a:r>
            <a:r>
              <a:rPr lang="en-IN" b="1" dirty="0"/>
              <a:t>LangGraph</a:t>
            </a:r>
          </a:p>
          <a:p>
            <a:r>
              <a:rPr lang="en-IN" b="1" dirty="0" err="1"/>
              <a:t>LangGraph</a:t>
            </a:r>
            <a:r>
              <a:rPr lang="en-IN" dirty="0"/>
              <a:t>: </a:t>
            </a:r>
            <a:r>
              <a:rPr lang="en-US" dirty="0"/>
              <a:t>Designed for </a:t>
            </a:r>
            <a:r>
              <a:rPr lang="en-US" b="1" dirty="0"/>
              <a:t>stateful</a:t>
            </a:r>
            <a:r>
              <a:rPr lang="en-US" dirty="0"/>
              <a:t>, </a:t>
            </a:r>
            <a:r>
              <a:rPr lang="en-US" b="1" dirty="0"/>
              <a:t>multi-actor applications </a:t>
            </a:r>
            <a:r>
              <a:rPr lang="en-US" dirty="0"/>
              <a:t>with LLMs</a:t>
            </a:r>
          </a:p>
          <a:p>
            <a:r>
              <a:rPr lang="en-US" dirty="0"/>
              <a:t>Allows building </a:t>
            </a:r>
            <a:r>
              <a:rPr lang="en-US" b="1" dirty="0"/>
              <a:t>complex workflows</a:t>
            </a:r>
            <a:r>
              <a:rPr lang="en-US" dirty="0"/>
              <a:t> where multiple agents collaborate, maintain memory, and handle dynamic execution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LangChain</a:t>
            </a:r>
            <a:r>
              <a:rPr lang="en-IN" dirty="0"/>
              <a:t> versus </a:t>
            </a:r>
            <a:r>
              <a:rPr lang="en-IN" dirty="0" err="1"/>
              <a:t>LangGraph</a:t>
            </a:r>
            <a:endParaRPr lang="en-GB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Aspect</a:t>
                      </a:r>
                      <a:endParaRPr lang="en-GB" sz="18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LangChain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LangGraph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  <a:endParaRPr lang="en-GB" sz="18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Workflow type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Agents involved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State management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Dynamic execution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Best for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Learning curve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Relationship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Builds on and extends </a:t>
                      </a:r>
                      <a:r>
                        <a:rPr lang="en-US" sz="1800" dirty="0" err="1"/>
                        <a:t>LangChain</a:t>
                      </a:r>
                      <a:r>
                        <a:rPr lang="en-US" sz="180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LangGraph: </a:t>
            </a:r>
            <a:br>
              <a:rPr lang="en-IN" dirty="0"/>
            </a:br>
            <a:r>
              <a:rPr lang="en-IN" dirty="0"/>
              <a:t>Key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709-C9B5-A166-56AF-B76B022B8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Step or operation in the graph – Takes an input state and produces an output state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Connects two nodes and decides how information flows through them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overall structure that organizes nodes and edges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Node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Edge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Graph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State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Final balance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C:\code\agenticai\3_langgraph\3_1_langgraph_basic.py)</a:t>
            </a:r>
            <a:endParaRPr lang="en-GB" sz="36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/>
                        <a:t>StateGraph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main class for building graphs in LangGraph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START / END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ChatOpenAI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OpenAI integration from </a:t>
                      </a:r>
                      <a:r>
                        <a:rPr lang="en-US" sz="1400" dirty="0" err="1"/>
                        <a:t>LangChain</a:t>
                      </a:r>
                      <a:r>
                        <a:rPr lang="en-US" sz="140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TypedDict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LangGraph uses a </a:t>
            </a:r>
            <a:r>
              <a:rPr lang="en-US" dirty="0">
                <a:solidFill>
                  <a:srgbClr val="FF0000"/>
                </a:solidFill>
              </a:rPr>
              <a:t>state-based architecture</a:t>
            </a:r>
            <a:r>
              <a:rPr lang="en-US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US" dirty="0"/>
          </a:p>
          <a:p>
            <a:r>
              <a:rPr lang="en-US" dirty="0" err="1"/>
              <a:t>user_name</a:t>
            </a:r>
            <a:r>
              <a:rPr lang="en-US" dirty="0"/>
              <a:t>: Stores the user's name</a:t>
            </a:r>
          </a:p>
          <a:p>
            <a:r>
              <a:rPr lang="en-US" dirty="0"/>
              <a:t>greeting: Stores the generated greeting message</a:t>
            </a:r>
          </a:p>
          <a:p>
            <a:r>
              <a:rPr lang="en-US" dirty="0"/>
              <a:t>messages: Keeps a log of the conversation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99F19-92AF-D6E3-7DD0-D0A668D11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Node function 1</a:t>
            </a:r>
          </a:p>
          <a:p>
            <a:r>
              <a:rPr lang="en-US" dirty="0"/>
              <a:t>Takes the current state as input</a:t>
            </a:r>
          </a:p>
          <a:p>
            <a:r>
              <a:rPr lang="en-US" dirty="0"/>
              <a:t>Asks user for their name</a:t>
            </a:r>
          </a:p>
          <a:p>
            <a:r>
              <a:rPr lang="en-US" dirty="0"/>
              <a:t>Returns a </a:t>
            </a:r>
            <a:r>
              <a:rPr lang="en-US" b="1" dirty="0"/>
              <a:t>new state </a:t>
            </a:r>
            <a:r>
              <a:rPr lang="en-US" dirty="0"/>
              <a:t>with updated information</a:t>
            </a:r>
          </a:p>
          <a:p>
            <a:pPr lvl="1"/>
            <a:r>
              <a:rPr lang="en-US" dirty="0"/>
              <a:t>**state copies all existing state data</a:t>
            </a:r>
          </a:p>
          <a:p>
            <a:pPr lvl="1"/>
            <a:r>
              <a:rPr lang="en-US" dirty="0"/>
              <a:t>Updates specific fields (</a:t>
            </a:r>
            <a:r>
              <a:rPr lang="en-US" dirty="0" err="1"/>
              <a:t>user_name</a:t>
            </a:r>
            <a:r>
              <a:rPr lang="en-US" dirty="0"/>
              <a:t>, messages)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Node function 2</a:t>
            </a:r>
          </a:p>
          <a:p>
            <a:r>
              <a:rPr lang="en-US" dirty="0"/>
              <a:t>Reads </a:t>
            </a:r>
            <a:r>
              <a:rPr lang="en-US" dirty="0" err="1"/>
              <a:t>user_name</a:t>
            </a:r>
            <a:r>
              <a:rPr lang="en-US" dirty="0"/>
              <a:t> from the current state</a:t>
            </a:r>
          </a:p>
          <a:p>
            <a:r>
              <a:rPr lang="en-US" dirty="0"/>
              <a:t>Creates a personalized greeting</a:t>
            </a:r>
          </a:p>
          <a:p>
            <a:r>
              <a:rPr lang="en-US" dirty="0"/>
              <a:t>Updates state with the greeting and conversation log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2E842-61DC-B04E-DBC6-B84DF193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 Construction</a:t>
            </a:r>
          </a:p>
          <a:p>
            <a:r>
              <a:rPr lang="en-US" dirty="0"/>
              <a:t>Structure: START → </a:t>
            </a:r>
            <a:r>
              <a:rPr lang="en-US" dirty="0" err="1"/>
              <a:t>ask_name</a:t>
            </a:r>
            <a:r>
              <a:rPr lang="en-US" dirty="0"/>
              <a:t> → </a:t>
            </a:r>
            <a:r>
              <a:rPr lang="en-US" dirty="0" err="1"/>
              <a:t>greet_user</a:t>
            </a:r>
            <a:r>
              <a:rPr lang="en-US" dirty="0"/>
              <a:t> → END</a:t>
            </a:r>
          </a:p>
          <a:p>
            <a:endParaRPr lang="en-US" dirty="0"/>
          </a:p>
          <a:p>
            <a:r>
              <a:rPr lang="en-US" dirty="0"/>
              <a:t>Nodes represent processing steps (functions)</a:t>
            </a:r>
          </a:p>
          <a:p>
            <a:r>
              <a:rPr lang="en-US" dirty="0"/>
              <a:t>Edges define the flow between steps</a:t>
            </a:r>
          </a:p>
          <a:p>
            <a:r>
              <a:rPr lang="en-US" dirty="0"/>
              <a:t>START is where execution begins</a:t>
            </a:r>
          </a:p>
          <a:p>
            <a:r>
              <a:rPr lang="en-US" dirty="0"/>
              <a:t>END is where execution terminates</a:t>
            </a:r>
          </a:p>
          <a:p>
            <a:r>
              <a:rPr lang="en-US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23DBD-02DA-F510-EED2-6B0E42F0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Flow: State passes through: </a:t>
            </a:r>
            <a:r>
              <a:rPr lang="en-US" dirty="0" err="1"/>
              <a:t>ask_name</a:t>
            </a:r>
            <a:r>
              <a:rPr lang="en-US" dirty="0"/>
              <a:t> → </a:t>
            </a:r>
            <a:r>
              <a:rPr lang="en-US" dirty="0" err="1"/>
              <a:t>greet_user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TypeDict</a:t>
            </a:r>
            <a:r>
              <a:rPr lang="en-IN" dirty="0"/>
              <a:t> Versus </a:t>
            </a:r>
            <a:r>
              <a:rPr lang="en-IN" dirty="0" err="1"/>
              <a:t>Pydantic</a:t>
            </a:r>
            <a:r>
              <a:rPr lang="en-IN" dirty="0"/>
              <a:t> </a:t>
            </a:r>
            <a:r>
              <a:rPr lang="en-IN" dirty="0" err="1"/>
              <a:t>BaseModel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GB" sz="1500" b="1" dirty="0"/>
                        <a:t> (from </a:t>
                      </a: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GB" sz="1500" b="1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GB" sz="1500" b="1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Purpose</a:t>
                      </a:r>
                      <a:endParaRPr lang="en-GB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Runtime </a:t>
                      </a:r>
                      <a:r>
                        <a:rPr lang="en-GB" sz="1500" b="1" dirty="0" err="1"/>
                        <a:t>behavior</a:t>
                      </a:r>
                      <a:endParaRPr lang="en-GB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Static type only (checked by linters/myPy)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Validation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Automatic type </a:t>
                      </a:r>
                      <a:r>
                        <a:rPr lang="en-GB" sz="1500"/>
                        <a:t>conversion and </a:t>
                      </a:r>
                      <a:r>
                        <a:rPr lang="en-GB" sz="1500" dirty="0"/>
                        <a:t>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Default values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Field aliasing &amp; renaming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Supported (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GB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Nested models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Manual nesting (just </a:t>
                      </a:r>
                      <a:r>
                        <a:rPr lang="en-GB" sz="1500" dirty="0" err="1"/>
                        <a:t>dicts</a:t>
                      </a:r>
                      <a:r>
                        <a:rPr lang="en-GB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Fully supported (</a:t>
                      </a:r>
                      <a:r>
                        <a:rPr lang="en-US" sz="1500" dirty="0" err="1"/>
                        <a:t>BaseModel</a:t>
                      </a:r>
                      <a:r>
                        <a:rPr lang="en-US" sz="1500" dirty="0"/>
                        <a:t> inside </a:t>
                      </a:r>
                      <a:r>
                        <a:rPr lang="en-US" sz="1500" dirty="0" err="1"/>
                        <a:t>BaseModel</a:t>
                      </a:r>
                      <a:r>
                        <a:rPr lang="en-US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Serialization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Just a dict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, 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, 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Performance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Use case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TypeDict</a:t>
            </a:r>
            <a:r>
              <a:rPr lang="en-IN" dirty="0"/>
              <a:t> Versus </a:t>
            </a:r>
            <a:r>
              <a:rPr lang="en-IN" dirty="0" err="1"/>
              <a:t>Pydantic</a:t>
            </a:r>
            <a:r>
              <a:rPr lang="en-IN" dirty="0"/>
              <a:t> </a:t>
            </a:r>
            <a:r>
              <a:rPr lang="en-IN" dirty="0" err="1"/>
              <a:t>BaseModel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Note: If it was age = “twenty five”, it would give an error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TypedDict</a:t>
            </a:r>
            <a:r>
              <a:rPr lang="en-IN" dirty="0"/>
              <a:t> in Agents: Common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GB" dirty="0"/>
              <a:t>class </a:t>
            </a:r>
            <a:r>
              <a:rPr lang="en-GB" dirty="0" err="1"/>
              <a:t>ResearchState</a:t>
            </a:r>
            <a:r>
              <a:rPr lang="en-GB" dirty="0"/>
              <a:t>(</a:t>
            </a:r>
            <a:r>
              <a:rPr lang="en-GB" dirty="0" err="1"/>
              <a:t>TypedDict</a:t>
            </a:r>
            <a:r>
              <a:rPr lang="en-GB" dirty="0"/>
              <a:t>):</a:t>
            </a:r>
          </a:p>
          <a:p>
            <a:r>
              <a:rPr lang="en-GB" dirty="0"/>
              <a:t>    # Input</a:t>
            </a:r>
          </a:p>
          <a:p>
            <a:r>
              <a:rPr lang="en-GB" dirty="0"/>
              <a:t>    </a:t>
            </a:r>
            <a:r>
              <a:rPr lang="en-GB" dirty="0" err="1"/>
              <a:t>research_question</a:t>
            </a:r>
            <a:r>
              <a:rPr lang="en-GB" dirty="0"/>
              <a:t>: str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Processing steps</a:t>
            </a:r>
          </a:p>
          <a:p>
            <a:r>
              <a:rPr lang="en-GB" dirty="0"/>
              <a:t>    </a:t>
            </a:r>
            <a:r>
              <a:rPr lang="en-GB" dirty="0" err="1"/>
              <a:t>search_queries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  <a:r>
              <a:rPr lang="en-GB" dirty="0" err="1"/>
              <a:t>raw_results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Output</a:t>
            </a:r>
          </a:p>
          <a:p>
            <a:r>
              <a:rPr lang="en-GB" dirty="0"/>
              <a:t>    </a:t>
            </a:r>
            <a:r>
              <a:rPr lang="en-GB" dirty="0" err="1"/>
              <a:t>final_report</a:t>
            </a:r>
            <a:r>
              <a:rPr lang="en-GB" dirty="0"/>
              <a:t>: str</a:t>
            </a:r>
          </a:p>
          <a:p>
            <a:r>
              <a:rPr lang="en-GB" dirty="0"/>
              <a:t>    </a:t>
            </a:r>
            <a:r>
              <a:rPr lang="en-GB" dirty="0" err="1"/>
              <a:t>sources_cited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Metadata</a:t>
            </a:r>
          </a:p>
          <a:p>
            <a:r>
              <a:rPr lang="en-GB" dirty="0"/>
              <a:t>    </a:t>
            </a:r>
            <a:r>
              <a:rPr lang="en-GB" dirty="0" err="1"/>
              <a:t>confidence_score</a:t>
            </a:r>
            <a:r>
              <a:rPr lang="en-GB" dirty="0"/>
              <a:t>: float</a:t>
            </a:r>
          </a:p>
          <a:p>
            <a:r>
              <a:rPr lang="en-GB" dirty="0"/>
              <a:t>    </a:t>
            </a:r>
            <a:r>
              <a:rPr lang="en-GB" dirty="0" err="1"/>
              <a:t>processing_time</a:t>
            </a:r>
            <a:r>
              <a:rPr lang="en-GB" dirty="0"/>
              <a:t>: float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GB" dirty="0"/>
              <a:t># Each node updates relevant parts</a:t>
            </a:r>
          </a:p>
          <a:p>
            <a:r>
              <a:rPr lang="en-GB" dirty="0"/>
              <a:t>def </a:t>
            </a:r>
            <a:r>
              <a:rPr lang="en-GB" dirty="0" err="1"/>
              <a:t>web_search_node</a:t>
            </a:r>
            <a:r>
              <a:rPr lang="en-GB" dirty="0"/>
              <a:t>(state: </a:t>
            </a:r>
            <a:r>
              <a:rPr lang="en-GB" dirty="0" err="1"/>
              <a:t>ResearchState</a:t>
            </a:r>
            <a:r>
              <a:rPr lang="en-GB" dirty="0"/>
              <a:t>):</a:t>
            </a:r>
          </a:p>
          <a:p>
            <a:r>
              <a:rPr lang="en-GB" dirty="0"/>
              <a:t>    return {"</a:t>
            </a:r>
            <a:r>
              <a:rPr lang="en-GB" dirty="0" err="1"/>
              <a:t>raw_results</a:t>
            </a:r>
            <a:r>
              <a:rPr lang="en-GB" dirty="0"/>
              <a:t>": ["result1", "result2"]}</a:t>
            </a:r>
          </a:p>
          <a:p>
            <a:endParaRPr lang="en-GB" dirty="0"/>
          </a:p>
          <a:p>
            <a:r>
              <a:rPr lang="en-GB" dirty="0"/>
              <a:t>def </a:t>
            </a:r>
            <a:r>
              <a:rPr lang="en-GB" dirty="0" err="1"/>
              <a:t>analyze_node</a:t>
            </a:r>
            <a:r>
              <a:rPr lang="en-GB" dirty="0"/>
              <a:t>(state: </a:t>
            </a:r>
            <a:r>
              <a:rPr lang="en-GB" dirty="0" err="1"/>
              <a:t>ResearchState</a:t>
            </a:r>
            <a:r>
              <a:rPr lang="en-GB" dirty="0"/>
              <a:t>):</a:t>
            </a:r>
          </a:p>
          <a:p>
            <a:r>
              <a:rPr lang="en-GB" dirty="0"/>
              <a:t>    return {</a:t>
            </a:r>
          </a:p>
          <a:p>
            <a:r>
              <a:rPr lang="en-GB" dirty="0"/>
              <a:t>        "</a:t>
            </a:r>
            <a:r>
              <a:rPr lang="en-GB" dirty="0" err="1"/>
              <a:t>final_report</a:t>
            </a:r>
            <a:r>
              <a:rPr lang="en-GB" dirty="0"/>
              <a:t>": "Based on research...",</a:t>
            </a:r>
          </a:p>
          <a:p>
            <a:r>
              <a:rPr lang="en-GB" dirty="0"/>
              <a:t>        "</a:t>
            </a:r>
            <a:r>
              <a:rPr lang="en-GB" dirty="0" err="1"/>
              <a:t>confidence_score</a:t>
            </a:r>
            <a:r>
              <a:rPr lang="en-GB" dirty="0"/>
              <a:t>": 0.85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State</a:t>
            </a:r>
            <a:endParaRPr lang="en-GB" dirty="0"/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Nodes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Examples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2D77D-3B3B-E244-13C9-66084F55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5029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dirty="0"/>
                        <a:t>External API Call and </a:t>
                      </a:r>
                      <a:r>
                        <a:rPr lang="en-GB" b="0" dirty="0" err="1"/>
                        <a:t>LangGraph</a:t>
                      </a:r>
                      <a:r>
                        <a:rPr lang="en-GB" b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3_2_langgraph_news_summarize.py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Code Security Reviewer Agent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 code in a GitHub repository for security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3_3_langgraph_code_review.py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Adding Memory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See a separate slide for Memory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Text Embeddings (Real)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 text embeddings of real Amazon products using Hugging Face and FAISS (First create them by using the code below)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3_5_langgraph_real_product_embeddings.py</a:t>
                      </a: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Creating the Embeddings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Independent code just for creating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3_langgraph_darwin_embedding_creation.py and 3_langgraph_amazon_products_embedding_creation.py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Product vector search and web search combined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Search a product using vector search as before but also get product reviews from 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3_6_langgraph_product_vector_and_google_search.py*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Examples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FCF10-3EAC-A579-BA2D-9F435994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39319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Conditional nodes in </a:t>
                      </a:r>
                      <a:r>
                        <a:rPr lang="en-US" b="0" dirty="0" err="1"/>
                        <a:t>LangGraph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can choose to either get details of a product, comparison between two products, or recommendation about a product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3_7_langgraph_product_comparison_detail_recomend.py*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ReAct</a:t>
                      </a:r>
                      <a:r>
                        <a:rPr lang="en-US" dirty="0"/>
                        <a:t> Style Agent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AI-powered product query assistant built with </a:t>
                      </a:r>
                      <a:r>
                        <a:rPr lang="en-US" dirty="0" err="1"/>
                        <a:t>LangGraph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Gradio</a:t>
                      </a:r>
                      <a:r>
                        <a:rPr lang="en-US" dirty="0"/>
                        <a:t>, which classifies user queries (e.g., compare, recommend, specific) and uses a FAISS vector database plus a Google Gemini model to retrieve and analyze product information interactively through a chat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3_8_langgraph_react_style_agent.py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 </a:t>
                      </a:r>
                      <a:r>
                        <a:rPr lang="en-US" dirty="0" err="1"/>
                        <a:t>ntfy</a:t>
                      </a:r>
                      <a:r>
                        <a:rPr lang="en-US" dirty="0"/>
                        <a:t> Tool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ntfy</a:t>
                      </a:r>
                      <a:r>
                        <a:rPr lang="en-US" dirty="0"/>
                        <a:t> tool to send messages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3_9_langgraph_add_notify_tool.py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B39E-5F02-3B5C-485A-EED6B847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LangGraph Memory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4AB14-F3AC-6418-1202-75052D2E4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885" y="1690688"/>
          <a:ext cx="10870916" cy="4480560"/>
        </p:xfrm>
        <a:graphic>
          <a:graphicData uri="http://schemas.openxmlformats.org/drawingml/2006/table">
            <a:tbl>
              <a:tblPr/>
              <a:tblGrid>
                <a:gridCol w="3215812">
                  <a:extLst>
                    <a:ext uri="{9D8B030D-6E8A-4147-A177-3AD203B41FA5}">
                      <a16:colId xmlns:a16="http://schemas.microsoft.com/office/drawing/2014/main" val="4125191519"/>
                    </a:ext>
                  </a:extLst>
                </a:gridCol>
                <a:gridCol w="2219646">
                  <a:extLst>
                    <a:ext uri="{9D8B030D-6E8A-4147-A177-3AD203B41FA5}">
                      <a16:colId xmlns:a16="http://schemas.microsoft.com/office/drawing/2014/main" val="440972129"/>
                    </a:ext>
                  </a:extLst>
                </a:gridCol>
                <a:gridCol w="3338673">
                  <a:extLst>
                    <a:ext uri="{9D8B030D-6E8A-4147-A177-3AD203B41FA5}">
                      <a16:colId xmlns:a16="http://schemas.microsoft.com/office/drawing/2014/main" val="2029455846"/>
                    </a:ext>
                  </a:extLst>
                </a:gridCol>
                <a:gridCol w="2096785">
                  <a:extLst>
                    <a:ext uri="{9D8B030D-6E8A-4147-A177-3AD203B41FA5}">
                      <a16:colId xmlns:a16="http://schemas.microsoft.com/office/drawing/2014/main" val="449993443"/>
                    </a:ext>
                  </a:extLst>
                </a:gridCol>
              </a:tblGrid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Typical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87075"/>
                  </a:ext>
                </a:extLst>
              </a:tr>
              <a:tr h="74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In-memory / ephemeral memory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Volatile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Temporary context sharing between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Single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1842"/>
                  </a:ext>
                </a:extLst>
              </a:tr>
              <a:tr h="1384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Checkpointer memory</a:t>
                      </a:r>
                      <a:r>
                        <a:rPr lang="en-IN" sz="2400"/>
                        <a:t> (e.g.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MemorySaver</a:t>
                      </a:r>
                      <a:r>
                        <a:rPr lang="en-IN" sz="2400"/>
                        <a:t>,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SqliteSaver</a:t>
                      </a:r>
                      <a:r>
                        <a:rPr lang="en-IN" sz="2400"/>
                        <a:t>,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RedisSaver</a:t>
                      </a:r>
                      <a:r>
                        <a:rPr lang="en-IN" sz="2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Resume runs, maintain conversation across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Multi-run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10272"/>
                  </a:ext>
                </a:extLst>
              </a:tr>
              <a:tr h="106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External store memory</a:t>
                      </a:r>
                      <a:r>
                        <a:rPr lang="en-US" sz="2400" dirty="0"/>
                        <a:t> (DB/Vector DB, custom stores)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Long-term or semantic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4554"/>
                  </a:ext>
                </a:extLst>
              </a:tr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Custom memory class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User-defined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Specialized behaviors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297D-FC6D-F189-3996-1919A23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IN" dirty="0"/>
              <a:t>Memory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587A0-6AD0-3E34-E3E1-AA5451307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462" y="1211461"/>
          <a:ext cx="11568701" cy="527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438">
                  <a:extLst>
                    <a:ext uri="{9D8B030D-6E8A-4147-A177-3AD203B41FA5}">
                      <a16:colId xmlns:a16="http://schemas.microsoft.com/office/drawing/2014/main" val="2645502338"/>
                    </a:ext>
                  </a:extLst>
                </a:gridCol>
                <a:gridCol w="3566858">
                  <a:extLst>
                    <a:ext uri="{9D8B030D-6E8A-4147-A177-3AD203B41FA5}">
                      <a16:colId xmlns:a16="http://schemas.microsoft.com/office/drawing/2014/main" val="2045287010"/>
                    </a:ext>
                  </a:extLst>
                </a:gridCol>
                <a:gridCol w="2617557">
                  <a:extLst>
                    <a:ext uri="{9D8B030D-6E8A-4147-A177-3AD203B41FA5}">
                      <a16:colId xmlns:a16="http://schemas.microsoft.com/office/drawing/2014/main" val="3529050310"/>
                    </a:ext>
                  </a:extLst>
                </a:gridCol>
                <a:gridCol w="3846848">
                  <a:extLst>
                    <a:ext uri="{9D8B030D-6E8A-4147-A177-3AD203B41FA5}">
                      <a16:colId xmlns:a16="http://schemas.microsoft.com/office/drawing/2014/main" val="195529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Pros and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Code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9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Ephemeral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Default way of storing variables passed between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Lives only during graph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Cleared once the run finishes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Fast, No set-up</a:t>
                      </a:r>
                    </a:p>
                    <a:p>
                      <a:r>
                        <a:rPr lang="en-IN" sz="1600" dirty="0"/>
                        <a:t>Perfect for single-runs</a:t>
                      </a:r>
                    </a:p>
                    <a:p>
                      <a:endParaRPr lang="en-IN" sz="1600" dirty="0"/>
                    </a:p>
                    <a:p>
                      <a:r>
                        <a:rPr lang="en-IN" sz="1600" dirty="0"/>
                        <a:t>Lost after process ends</a:t>
                      </a:r>
                    </a:p>
                    <a:p>
                      <a:r>
                        <a:rPr lang="en-IN" sz="1600" dirty="0"/>
                        <a:t>No persistence / checkpointing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3_4_1_langgraph_memory_ephemeral.py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1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Checkpoint-based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Main 0ptions:</a:t>
                      </a:r>
                    </a:p>
                    <a:p>
                      <a:r>
                        <a:rPr lang="en-US" sz="1600" dirty="0" err="1"/>
                        <a:t>MemorySaver</a:t>
                      </a:r>
                      <a:r>
                        <a:rPr lang="en-US" sz="1600" dirty="0"/>
                        <a:t> (in-memory checkpoints)</a:t>
                      </a:r>
                    </a:p>
                    <a:p>
                      <a:r>
                        <a:rPr lang="en-US" sz="1600" dirty="0" err="1"/>
                        <a:t>SqliteSaver</a:t>
                      </a:r>
                      <a:r>
                        <a:rPr lang="en-US" sz="1600" dirty="0"/>
                        <a:t> (SQLite-backed persistence)</a:t>
                      </a:r>
                    </a:p>
                    <a:p>
                      <a:r>
                        <a:rPr lang="en-US" sz="1600" dirty="0" err="1"/>
                        <a:t>RedisSaver</a:t>
                      </a:r>
                      <a:r>
                        <a:rPr lang="en-US" sz="1600" dirty="0"/>
                        <a:t> (distributed persistence)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Allows a graph to pause, persist, and resume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3_4_2_langgraph_memory_checkpointer_memory_saver.py, 3_4_3_langgraph_memory_sqllite_memory_saver.py, 3_4_5_langgraph_memory_sqllite_read_saved_data.py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External/</a:t>
                      </a:r>
                    </a:p>
                    <a:p>
                      <a:r>
                        <a:rPr lang="en-IN" sz="1600" b="1" dirty="0"/>
                        <a:t>Long-term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Not managed by LangGraph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True long-term persistence</a:t>
                      </a:r>
                    </a:p>
                    <a:p>
                      <a:r>
                        <a:rPr lang="en-IN" sz="1600" dirty="0"/>
                        <a:t>Semantic retrieval possible</a:t>
                      </a:r>
                    </a:p>
                    <a:p>
                      <a:r>
                        <a:rPr lang="en-IN" sz="1600" dirty="0"/>
                        <a:t>Works across multiple runs and sessions</a:t>
                      </a:r>
                    </a:p>
                    <a:p>
                      <a:endParaRPr lang="en-IN" sz="1600" dirty="0"/>
                    </a:p>
                    <a:p>
                      <a:r>
                        <a:rPr lang="en-IN" sz="1600" dirty="0"/>
                        <a:t>Needs more effort</a:t>
                      </a:r>
                    </a:p>
                    <a:p>
                      <a:r>
                        <a:rPr lang="en-IN" sz="1600" dirty="0"/>
                        <a:t>Slower (I/O, Embeddings)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3_4_6_langgraph_memory_chromadb_memory_saver.py*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75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88BF-B321-7D37-12C7-6C786E63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FD2067-4F07-86DB-ECED-7DD24C00F6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7817" y="1690688"/>
          <a:ext cx="10330626" cy="4850566"/>
        </p:xfrm>
        <a:graphic>
          <a:graphicData uri="http://schemas.openxmlformats.org/drawingml/2006/table">
            <a:tbl>
              <a:tblPr/>
              <a:tblGrid>
                <a:gridCol w="2010284">
                  <a:extLst>
                    <a:ext uri="{9D8B030D-6E8A-4147-A177-3AD203B41FA5}">
                      <a16:colId xmlns:a16="http://schemas.microsoft.com/office/drawing/2014/main" val="159524871"/>
                    </a:ext>
                  </a:extLst>
                </a:gridCol>
                <a:gridCol w="8320342">
                  <a:extLst>
                    <a:ext uri="{9D8B030D-6E8A-4147-A177-3AD203B41FA5}">
                      <a16:colId xmlns:a16="http://schemas.microsoft.com/office/drawing/2014/main" val="3372872986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Aspect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782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it is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b="1" dirty="0"/>
                        <a:t>vector database</a:t>
                      </a:r>
                      <a:r>
                        <a:rPr lang="en-US" sz="1800" dirty="0"/>
                        <a:t> for storing and searching embeddings (numerical representations of text, images, etc.)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718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Main purpose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 enable </a:t>
                      </a:r>
                      <a:r>
                        <a:rPr lang="en-US" sz="1800" b="1" i="0" dirty="0"/>
                        <a:t>semantic search</a:t>
                      </a:r>
                      <a:r>
                        <a:rPr lang="en-US" sz="1800" dirty="0"/>
                        <a:t> — finding similar meanings, not just exact keyword matches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53546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Data stored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Pairs of: </a:t>
                      </a:r>
                      <a:r>
                        <a:rPr lang="en-US" sz="1800" b="1" dirty="0"/>
                        <a:t>(embedding vector, original text, metadata)</a:t>
                      </a:r>
                      <a:endParaRPr lang="en-US" sz="180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2398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Embedding source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Can come from models like OpenAI, </a:t>
                      </a:r>
                      <a:r>
                        <a:rPr lang="en-US" sz="1800" dirty="0" err="1"/>
                        <a:t>HuggingFace</a:t>
                      </a:r>
                      <a:r>
                        <a:rPr lang="en-US" sz="1800" dirty="0"/>
                        <a:t>, or custom embedding generators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135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Storage mode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Persistent on disk (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persist_directory</a:t>
                      </a:r>
                      <a:r>
                        <a:rPr lang="en-US" sz="1800" dirty="0"/>
                        <a:t>) or in-memory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6736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Core operations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add_texts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from_texts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to insert data;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similarity_search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similarity_search_by_vector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to query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6370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Similarity metric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Typically </a:t>
                      </a:r>
                      <a:r>
                        <a:rPr lang="en-US" sz="1800" b="1" dirty="0"/>
                        <a:t>cosine similarity</a:t>
                      </a:r>
                      <a:r>
                        <a:rPr lang="en-US" sz="1800" dirty="0"/>
                        <a:t> (measures how close two vectors are)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1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Persistence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Automatically stores data locally (e.g.,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./chroma/</a:t>
                      </a:r>
                      <a:r>
                        <a:rPr lang="en-US" sz="1800" dirty="0"/>
                        <a:t>) using SQLite + Parquet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770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Integration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Works well with </a:t>
                      </a:r>
                      <a:r>
                        <a:rPr lang="en-US" sz="1800" dirty="0" err="1"/>
                        <a:t>LangChain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LangGraph</a:t>
                      </a:r>
                      <a:r>
                        <a:rPr lang="en-US" sz="1800" dirty="0"/>
                        <a:t>, and other LLM frameworks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33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Use cases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FAQ search, product recommendation, document retrieval, RAG (Retrieval-Augmented Generation)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4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2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BC80C4-B8D0-42B1-3C5C-E726BD67EA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211" y="262071"/>
          <a:ext cx="1628384" cy="583088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3719">
                  <a:extLst>
                    <a:ext uri="{9D8B030D-6E8A-4147-A177-3AD203B41FA5}">
                      <a16:colId xmlns:a16="http://schemas.microsoft.com/office/drawing/2014/main" val="1235625342"/>
                    </a:ext>
                  </a:extLst>
                </a:gridCol>
                <a:gridCol w="1334665">
                  <a:extLst>
                    <a:ext uri="{9D8B030D-6E8A-4147-A177-3AD203B41FA5}">
                      <a16:colId xmlns:a16="http://schemas.microsoft.com/office/drawing/2014/main" val="202985736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Text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1427869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"Apple iPhone 15 with A17 chip and dynamic island feature."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05235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"Samsung Galaxy S23 smartphone with AMOLED display and triple camera."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273012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"Noise-cancelling wireless headphones with 30-hour battery life."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033791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"Compact digital camera with 20MP lens and 4K video recording."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4468531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"Leather office chair with ergonomic design and adjustable height."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312420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"Running shoes with breathable mesh and cushioned sole for comfort."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796461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"Organic green tea with antioxidants and a soothing flavor."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49730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"Cookware set with non-stick pans and heat-resistant handles."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037012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C22F2E-0F99-8A0C-459F-7B4D6FBE0293}"/>
              </a:ext>
            </a:extLst>
          </p:cNvPr>
          <p:cNvGraphicFramePr>
            <a:graphicFrameLocks noGrp="1"/>
          </p:cNvGraphicFramePr>
          <p:nvPr/>
        </p:nvGraphicFramePr>
        <p:xfrm>
          <a:off x="1789801" y="130734"/>
          <a:ext cx="3531376" cy="5962222"/>
        </p:xfrm>
        <a:graphic>
          <a:graphicData uri="http://schemas.openxmlformats.org/drawingml/2006/table">
            <a:tbl>
              <a:tblPr/>
              <a:tblGrid>
                <a:gridCol w="325186">
                  <a:extLst>
                    <a:ext uri="{9D8B030D-6E8A-4147-A177-3AD203B41FA5}">
                      <a16:colId xmlns:a16="http://schemas.microsoft.com/office/drawing/2014/main" val="676839418"/>
                    </a:ext>
                  </a:extLst>
                </a:gridCol>
                <a:gridCol w="551432">
                  <a:extLst>
                    <a:ext uri="{9D8B030D-6E8A-4147-A177-3AD203B41FA5}">
                      <a16:colId xmlns:a16="http://schemas.microsoft.com/office/drawing/2014/main" val="2756974059"/>
                    </a:ext>
                  </a:extLst>
                </a:gridCol>
                <a:gridCol w="2654758">
                  <a:extLst>
                    <a:ext uri="{9D8B030D-6E8A-4147-A177-3AD203B41FA5}">
                      <a16:colId xmlns:a16="http://schemas.microsoft.com/office/drawing/2014/main" val="1208553477"/>
                    </a:ext>
                  </a:extLst>
                </a:gridCol>
              </a:tblGrid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Example Embedding (truncated)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5486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Apple iPhone 15...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[0.41, -0.28, 0.66, 0.12, -0.47,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86064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Samsung Galaxy S23...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[0.39, -0.25, 0.61, 0.10, -0.45,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54981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[0.12, -0.33, 0.74, -0.15, 0.22,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36145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Digital camera...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[0.08, -0.42, 0.79, -0.12, 0.31,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7902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[0.55, 0.16, -0.24, 0.48, -0.10,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810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Running shoes...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[0.62, 0.08, -0.29, 0.33, -0.05,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68269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Organic green tea...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[-0.21, 0.55, 0.11, -0.43, 0.69,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41276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Cookware set...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[0.31, 0.41, -0.14, 0.22, -0.51,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9024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6FAD2D-A912-D153-D3CA-58852D37F7C1}"/>
              </a:ext>
            </a:extLst>
          </p:cNvPr>
          <p:cNvGraphicFramePr>
            <a:graphicFrameLocks noGrp="1"/>
          </p:cNvGraphicFramePr>
          <p:nvPr/>
        </p:nvGraphicFramePr>
        <p:xfrm>
          <a:off x="5399383" y="94750"/>
          <a:ext cx="4353844" cy="60402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31469">
                  <a:extLst>
                    <a:ext uri="{9D8B030D-6E8A-4147-A177-3AD203B41FA5}">
                      <a16:colId xmlns:a16="http://schemas.microsoft.com/office/drawing/2014/main" val="2908873840"/>
                    </a:ext>
                  </a:extLst>
                </a:gridCol>
                <a:gridCol w="1545453">
                  <a:extLst>
                    <a:ext uri="{9D8B030D-6E8A-4147-A177-3AD203B41FA5}">
                      <a16:colId xmlns:a16="http://schemas.microsoft.com/office/drawing/2014/main" val="1038796647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77483026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842056756"/>
                    </a:ext>
                  </a:extLst>
                </a:gridCol>
              </a:tblGrid>
              <a:tr h="35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document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embedding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metadata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22497968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Apple iPhone 15 with A17 chip...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[0.41, -0.28, 0.66,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26867980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Samsung Galaxy S23 smartphone...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[0.39, -0.25, 0.61,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26541536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Noise-cancelling wireless headphones...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[0.12, -0.33, 0.74,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80053589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Compact digital camera with 20MP lens...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[0.08, -0.42, 0.79,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9771277"/>
                  </a:ext>
                </a:extLst>
              </a:tr>
              <a:tr h="883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Leather office chair with ergonomic design...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[0.55, 0.16, -0.24,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141865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Running shoes with breathable mesh...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[0.62, 0.08, -0.29,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2436517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Organic green tea with antioxidants...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[-0.21, 0.55, 0.11,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20155223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Cookware set with non-stick pans...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[0.31, 0.41, -0.14,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{"category": "</a:t>
                      </a:r>
                      <a:r>
                        <a:rPr lang="en-GB" sz="1050" dirty="0" err="1"/>
                        <a:t>mixed_products</a:t>
                      </a:r>
                      <a:r>
                        <a:rPr lang="en-GB" sz="105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651398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2C8DA9-1787-66C7-4207-0D6757E19DE2}"/>
              </a:ext>
            </a:extLst>
          </p:cNvPr>
          <p:cNvGraphicFramePr>
            <a:graphicFrameLocks noGrp="1"/>
          </p:cNvGraphicFramePr>
          <p:nvPr/>
        </p:nvGraphicFramePr>
        <p:xfrm>
          <a:off x="9854198" y="2600974"/>
          <a:ext cx="2254591" cy="3444240"/>
        </p:xfrm>
        <a:graphic>
          <a:graphicData uri="http://schemas.openxmlformats.org/drawingml/2006/table">
            <a:tbl>
              <a:tblPr/>
              <a:tblGrid>
                <a:gridCol w="965589">
                  <a:extLst>
                    <a:ext uri="{9D8B030D-6E8A-4147-A177-3AD203B41FA5}">
                      <a16:colId xmlns:a16="http://schemas.microsoft.com/office/drawing/2014/main" val="4215628653"/>
                    </a:ext>
                  </a:extLst>
                </a:gridCol>
                <a:gridCol w="774797">
                  <a:extLst>
                    <a:ext uri="{9D8B030D-6E8A-4147-A177-3AD203B41FA5}">
                      <a16:colId xmlns:a16="http://schemas.microsoft.com/office/drawing/2014/main" val="2065376495"/>
                    </a:ext>
                  </a:extLst>
                </a:gridCol>
                <a:gridCol w="514205">
                  <a:extLst>
                    <a:ext uri="{9D8B030D-6E8A-4147-A177-3AD203B41FA5}">
                      <a16:colId xmlns:a16="http://schemas.microsoft.com/office/drawing/2014/main" val="67214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Stored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0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Samsung Galaxy S23 smartphone with AMOLED display and triple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</a:rPr>
                        <a:t>0.95</a:t>
                      </a:r>
                      <a:endParaRPr lang="en-GB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4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Apple iPhone 15 with A17 chip...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9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Compact digital camera with 20MP lens...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757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92F72E8-8058-D07B-9A98-0088607BEEE1}"/>
              </a:ext>
            </a:extLst>
          </p:cNvPr>
          <p:cNvSpPr txBox="1"/>
          <p:nvPr/>
        </p:nvSpPr>
        <p:spPr>
          <a:xfrm>
            <a:off x="161417" y="6303078"/>
            <a:ext cx="145099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Original Text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4132B-A5A9-9668-1B85-D80B430E2A6E}"/>
              </a:ext>
            </a:extLst>
          </p:cNvPr>
          <p:cNvSpPr txBox="1"/>
          <p:nvPr/>
        </p:nvSpPr>
        <p:spPr>
          <a:xfrm>
            <a:off x="1750698" y="6204046"/>
            <a:ext cx="360958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Create Embeddings (</a:t>
            </a:r>
            <a:r>
              <a:rPr lang="en-US" sz="1400" dirty="0">
                <a:latin typeface="Courier New" panose="02070309020205020404" pitchFamily="49" charset="0"/>
              </a:rPr>
              <a:t>sentence-transformers/all-MiniLM-L6-v2)</a:t>
            </a:r>
            <a:endParaRPr lang="en-GB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87994-1DC0-46A2-5088-0BC34057D501}"/>
              </a:ext>
            </a:extLst>
          </p:cNvPr>
          <p:cNvSpPr txBox="1"/>
          <p:nvPr/>
        </p:nvSpPr>
        <p:spPr>
          <a:xfrm>
            <a:off x="6282137" y="6303078"/>
            <a:ext cx="251867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Chroma Internal Storage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28440-AF67-109B-63F0-72399568EC96}"/>
              </a:ext>
            </a:extLst>
          </p:cNvPr>
          <p:cNvSpPr txBox="1"/>
          <p:nvPr/>
        </p:nvSpPr>
        <p:spPr>
          <a:xfrm>
            <a:off x="10078970" y="6303078"/>
            <a:ext cx="20153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Query Processing</a:t>
            </a:r>
            <a:endParaRPr lang="en-GB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17CAC-50AA-15C7-C644-DA41877481F8}"/>
              </a:ext>
            </a:extLst>
          </p:cNvPr>
          <p:cNvSpPr txBox="1"/>
          <p:nvPr/>
        </p:nvSpPr>
        <p:spPr>
          <a:xfrm>
            <a:off x="9816924" y="94750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Query: </a:t>
            </a:r>
          </a:p>
          <a:p>
            <a:pPr algn="ctr"/>
            <a:r>
              <a:rPr lang="en-IN" sz="1100" dirty="0"/>
              <a:t>“Best smartphone for photography”</a:t>
            </a:r>
            <a:endParaRPr lang="en-GB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66F81-9C9D-3905-7378-D9320CE6935E}"/>
              </a:ext>
            </a:extLst>
          </p:cNvPr>
          <p:cNvSpPr txBox="1"/>
          <p:nvPr/>
        </p:nvSpPr>
        <p:spPr>
          <a:xfrm>
            <a:off x="9816924" y="977277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Converted to Vector: </a:t>
            </a:r>
          </a:p>
          <a:p>
            <a:pPr algn="ctr"/>
            <a:r>
              <a:rPr lang="en-GB" sz="1100" dirty="0"/>
              <a:t>[0.40, -0.27, 0.67, 0.09, -0.46, …]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E3DD039-0888-F54A-368A-90E1C2DB4686}"/>
              </a:ext>
            </a:extLst>
          </p:cNvPr>
          <p:cNvSpPr/>
          <p:nvPr/>
        </p:nvSpPr>
        <p:spPr>
          <a:xfrm>
            <a:off x="10805276" y="525637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134B7D3-97BC-14D7-34FA-77F6B8E0ECF0}"/>
              </a:ext>
            </a:extLst>
          </p:cNvPr>
          <p:cNvSpPr/>
          <p:nvPr/>
        </p:nvSpPr>
        <p:spPr>
          <a:xfrm>
            <a:off x="10805276" y="213537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D364F-F911-46EF-F10D-F4A72CB3280E}"/>
              </a:ext>
            </a:extLst>
          </p:cNvPr>
          <p:cNvSpPr txBox="1"/>
          <p:nvPr/>
        </p:nvSpPr>
        <p:spPr>
          <a:xfrm>
            <a:off x="9816924" y="1866784"/>
            <a:ext cx="2277356" cy="2616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Compare with the Vector DB</a:t>
            </a:r>
            <a:endParaRPr lang="en-GB" sz="11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2BAEF52-E272-5776-7224-15C65D896155}"/>
              </a:ext>
            </a:extLst>
          </p:cNvPr>
          <p:cNvSpPr/>
          <p:nvPr/>
        </p:nvSpPr>
        <p:spPr>
          <a:xfrm>
            <a:off x="10805276" y="140816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9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CFA8-ABB8-16CB-08F7-BC4AE41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and Storage in </a:t>
            </a:r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09F660-960F-05B6-60D5-52103A33A5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8785" y="1392855"/>
          <a:ext cx="11454430" cy="5213181"/>
        </p:xfrm>
        <a:graphic>
          <a:graphicData uri="http://schemas.openxmlformats.org/drawingml/2006/table">
            <a:tbl>
              <a:tblPr/>
              <a:tblGrid>
                <a:gridCol w="383908">
                  <a:extLst>
                    <a:ext uri="{9D8B030D-6E8A-4147-A177-3AD203B41FA5}">
                      <a16:colId xmlns:a16="http://schemas.microsoft.com/office/drawing/2014/main" val="858010430"/>
                    </a:ext>
                  </a:extLst>
                </a:gridCol>
                <a:gridCol w="1710137">
                  <a:extLst>
                    <a:ext uri="{9D8B030D-6E8A-4147-A177-3AD203B41FA5}">
                      <a16:colId xmlns:a16="http://schemas.microsoft.com/office/drawing/2014/main" val="4007547208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2613465095"/>
                    </a:ext>
                  </a:extLst>
                </a:gridCol>
                <a:gridCol w="3057307">
                  <a:extLst>
                    <a:ext uri="{9D8B030D-6E8A-4147-A177-3AD203B41FA5}">
                      <a16:colId xmlns:a16="http://schemas.microsoft.com/office/drawing/2014/main" val="3451700151"/>
                    </a:ext>
                  </a:extLst>
                </a:gridCol>
                <a:gridCol w="3224831">
                  <a:extLst>
                    <a:ext uri="{9D8B030D-6E8A-4147-A177-3AD203B41FA5}">
                      <a16:colId xmlns:a16="http://schemas.microsoft.com/office/drawing/2014/main" val="3570506273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Step</a:t>
                      </a:r>
                      <a:endParaRPr lang="en-GB" sz="140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Action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 / Output Example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What Happens Internally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Stored in ChromaDB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31819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Texts given to Chroma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["Hi there", "Bye, see you later"]</a:t>
                      </a:r>
                      <a:endParaRPr lang="en-US" sz="140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text is sent to the </a:t>
                      </a:r>
                      <a:r>
                        <a:rPr lang="en-US" sz="1400" b="1" dirty="0"/>
                        <a:t>embedding model</a:t>
                      </a:r>
                      <a:r>
                        <a:rPr lang="en-US" sz="1400" dirty="0"/>
                        <a:t> (e.g.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sentence-transformers/all-MiniLM-L6-v2</a:t>
                      </a:r>
                      <a:r>
                        <a:rPr lang="en-US" sz="1400" dirty="0"/>
                        <a:t>).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Raw text + metadata are prepared.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42971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Embedding model converts text → vector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US" sz="1400"/>
                        <a:t> →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[0.12, -0.43, 0.87, ...]</a:t>
                      </a:r>
                      <a:r>
                        <a:rPr lang="en-US" sz="1400"/>
                        <a:t> (384 dims)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HuggingFace Embeddings converts each string into a </a:t>
                      </a:r>
                      <a:r>
                        <a:rPr lang="en-US" sz="1400" b="1"/>
                        <a:t>dense numerical vector</a:t>
                      </a:r>
                      <a:r>
                        <a:rPr lang="en-US" sz="1400"/>
                        <a:t> capturing its meaning.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vector = Semantic representation of one text.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74829"/>
                  </a:ext>
                </a:extLst>
              </a:tr>
              <a:tr h="916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Vectors + text added to collection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collection_name="greetings_memory"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vectorstore.add_texts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400" dirty="0"/>
                        <a:t> sends data to Chroma, which stores: ID (auto-generated), text (document), vector (embedding), metadata (optional)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Stored in a </a:t>
                      </a:r>
                      <a:r>
                        <a:rPr lang="en-US" sz="1400" b="1"/>
                        <a:t>DuckDB / SQLite file</a:t>
                      </a:r>
                      <a:r>
                        <a:rPr lang="en-US" sz="1400"/>
                        <a:t> inside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.chroma/</a:t>
                      </a:r>
                      <a:r>
                        <a:rPr lang="en-US" sz="1400"/>
                        <a:t> directory.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94345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Query comes in (e.g.,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US" sz="1400"/>
                        <a:t>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Query embedding =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[0.09, -0.40, 0.90, ...]</a:t>
                      </a:r>
                      <a:endParaRPr lang="en-US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Query vector computed with same model → then compared to all stored vectors using </a:t>
                      </a:r>
                      <a:r>
                        <a:rPr lang="en-US" sz="1400" b="1" dirty="0"/>
                        <a:t>cosine similarity</a:t>
                      </a:r>
                      <a:r>
                        <a:rPr lang="en-US" sz="1400" dirty="0"/>
                        <a:t> or </a:t>
                      </a:r>
                      <a:r>
                        <a:rPr lang="en-US" sz="1400" b="1" dirty="0"/>
                        <a:t>Euclidean distance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new row added yet — only temporary computation.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07515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5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Similarity search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GB" sz="1400"/>
                        <a:t> vs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GB" sz="1400"/>
                        <a:t> ≈ </a:t>
                      </a:r>
                      <a:r>
                        <a:rPr lang="en-GB" sz="1400" b="1"/>
                        <a:t>cosine sim 0.93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Chroma calculates distance between vectors → smaller distance = more similar.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ranked results from stored vectors.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459904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6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Results returned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[("Hi there", score=0.93), ("Bye, see you later", score=0.75)]</a:t>
                      </a:r>
                      <a:endParaRPr lang="en-US" sz="140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Chroma returns top-k nearest neighbors sorted by similarity.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We can convert or normalize scores before showing to user.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1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1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CEC1-37C5-1402-6FE7-2A4B96E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Inside </a:t>
            </a:r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3410E2-2776-041C-0EAF-63D191E8E3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617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1542032">
                  <a:extLst>
                    <a:ext uri="{9D8B030D-6E8A-4147-A177-3AD203B41FA5}">
                      <a16:colId xmlns:a16="http://schemas.microsoft.com/office/drawing/2014/main" val="1706977520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1777147293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1853368615"/>
                    </a:ext>
                  </a:extLst>
                </a:gridCol>
                <a:gridCol w="1469904">
                  <a:extLst>
                    <a:ext uri="{9D8B030D-6E8A-4147-A177-3AD203B41FA5}">
                      <a16:colId xmlns:a16="http://schemas.microsoft.com/office/drawing/2014/main" val="770471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 dirty="0"/>
                        <a:t>ID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Document (Text)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Embedding (Vector)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Metadata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12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"Hi there"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[0.12, -0.43, 0.87,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uuid-2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"Bye, see you later"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[-0.05, 0.22, 0.79,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0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uuid-3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"Greetings!"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[0.11, -0.39, 0.92,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3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uuid-4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"Do not come"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[-0.45, 0.67, -0.21,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{}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30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8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2717-A683-AECF-F684-19F7302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3_6_langgraph_product_vector_and_google_search.py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6CF4B-8183-6608-49CC-E0D8AA809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71147"/>
        </p:xfrm>
        <a:graphic>
          <a:graphicData uri="http://schemas.openxmlformats.org/drawingml/2006/table">
            <a:tbl>
              <a:tblPr/>
              <a:tblGrid>
                <a:gridCol w="1276786">
                  <a:extLst>
                    <a:ext uri="{9D8B030D-6E8A-4147-A177-3AD203B41FA5}">
                      <a16:colId xmlns:a16="http://schemas.microsoft.com/office/drawing/2014/main" val="3755885271"/>
                    </a:ext>
                  </a:extLst>
                </a:gridCol>
                <a:gridCol w="2980525">
                  <a:extLst>
                    <a:ext uri="{9D8B030D-6E8A-4147-A177-3AD203B41FA5}">
                      <a16:colId xmlns:a16="http://schemas.microsoft.com/office/drawing/2014/main" val="102411404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562945811"/>
                    </a:ext>
                  </a:extLst>
                </a:gridCol>
                <a:gridCol w="3103260">
                  <a:extLst>
                    <a:ext uri="{9D8B030D-6E8A-4147-A177-3AD203B41FA5}">
                      <a16:colId xmlns:a16="http://schemas.microsoft.com/office/drawing/2014/main" val="2772004817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Step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Process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96887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User Input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User enters a query.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system takes a product-related search phrase from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Query: “Best budget DSLR camera”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113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Vector Search (FAISS)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semantically similar products from the local FAISS vector database.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Hugging Face embeddings to compare vector similarity.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Vector Results:</a:t>
                      </a:r>
                      <a:r>
                        <a:rPr lang="es-ES" sz="1200"/>
                        <a:t>• Canon EOS 1500D• Nikon D3500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20801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Web Search (SerpAPI)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Fetches the latest related web results.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the SerpAPI endpoint to get recent review snippets.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Web Results:</a:t>
                      </a:r>
                      <a:r>
                        <a:rPr lang="en-US" sz="1200"/>
                        <a:t>• Canon EOS 1500D Review — Great entry-level camera.• Nikon D3500 Review — Excellent performance for price.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26699"/>
                  </a:ext>
                </a:extLst>
              </a:tr>
              <a:tr h="94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LLM Synthesis (Gemini)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FAISS and web data to generate insights.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Gemini receives both vector and web contexts and analyzes them together.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Prompt Example:</a:t>
                      </a:r>
                      <a:r>
                        <a:rPr lang="en-GB" sz="1200"/>
                        <a:t>Analyze:Vector DB: Canon EOS 1500D, Nikon D3500Web: Canon EOS 1500D Review…, Nikon D3500 Review…Query: Best budget DSLR camera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38070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AI Analysis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Produces a final summarized answer for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Gemini synthesizes all context and gives comparative reasoning.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“Both Canon EOS 1500D and Nikon D3500 are excellent budget DSLRs. Canon offers easier usability; Nikon has better battery life.”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9476"/>
                  </a:ext>
                </a:extLst>
              </a:tr>
              <a:tr h="1059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Gradio Chat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the structured response in the Gradio interface.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the vector, web, and AI outputs into one chat message.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Vector:</a:t>
                      </a:r>
                      <a:r>
                        <a:rPr lang="en-GB" sz="1200" dirty="0"/>
                        <a:t> Canon EOS 1500D, Nikon D3500</a:t>
                      </a:r>
                      <a:r>
                        <a:rPr lang="en-GB" sz="1200" b="1" dirty="0"/>
                        <a:t>Web:</a:t>
                      </a:r>
                      <a:r>
                        <a:rPr lang="en-GB" sz="1200" dirty="0"/>
                        <a:t> Canon EOS 1500D Review — Great entry-level DSLR; Nikon D3500 Review — Superb image quality.</a:t>
                      </a:r>
                      <a:r>
                        <a:rPr lang="en-GB" sz="1200" b="1" dirty="0"/>
                        <a:t>AI:</a:t>
                      </a:r>
                      <a:r>
                        <a:rPr lang="en-GB" sz="1200" dirty="0"/>
                        <a:t> Canon is user-friendly; Nikon offers better image depth and </a:t>
                      </a:r>
                      <a:r>
                        <a:rPr lang="en-GB" sz="1200" dirty="0" err="1"/>
                        <a:t>color</a:t>
                      </a:r>
                      <a:r>
                        <a:rPr lang="en-GB" sz="1200" dirty="0"/>
                        <a:t> accuracy.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1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7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B5A4-9BE5-0A23-3E03-19CDC9C1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DBB0F-D6C1-971B-92B4-58149202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3_6_langgraph_product_vector_and_google_search.py</a:t>
            </a:r>
            <a:endParaRPr lang="en-GB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BF4C3-01F4-574B-9400-AF82229894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719998"/>
          <a:ext cx="10253262" cy="4482678"/>
        </p:xfrm>
        <a:graphic>
          <a:graphicData uri="http://schemas.openxmlformats.org/drawingml/2006/table">
            <a:tbl>
              <a:tblPr/>
              <a:tblGrid>
                <a:gridCol w="2749599">
                  <a:extLst>
                    <a:ext uri="{9D8B030D-6E8A-4147-A177-3AD203B41FA5}">
                      <a16:colId xmlns:a16="http://schemas.microsoft.com/office/drawing/2014/main" val="229553565"/>
                    </a:ext>
                  </a:extLst>
                </a:gridCol>
                <a:gridCol w="3538938">
                  <a:extLst>
                    <a:ext uri="{9D8B030D-6E8A-4147-A177-3AD203B41FA5}">
                      <a16:colId xmlns:a16="http://schemas.microsoft.com/office/drawing/2014/main" val="705827701"/>
                    </a:ext>
                  </a:extLst>
                </a:gridCol>
                <a:gridCol w="3964725">
                  <a:extLst>
                    <a:ext uri="{9D8B030D-6E8A-4147-A177-3AD203B41FA5}">
                      <a16:colId xmlns:a16="http://schemas.microsoft.com/office/drawing/2014/main" val="2016134730"/>
                    </a:ext>
                  </a:extLst>
                </a:gridCol>
              </a:tblGrid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Component</a:t>
                      </a:r>
                      <a:endParaRPr lang="en-GB" sz="12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Purpose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 / Example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54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Courier New" panose="02070309020205020404" pitchFamily="49" charset="0"/>
                        </a:rPr>
                        <a:t>State(</a:t>
                      </a:r>
                      <a:r>
                        <a:rPr lang="en-GB" sz="120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GB" sz="1200" dirty="0">
                          <a:latin typeface="Courier New" panose="02070309020205020404" pitchFamily="49" charset="0"/>
                        </a:rPr>
                        <a:t>)</a:t>
                      </a:r>
                      <a:endParaRPr lang="en-GB" sz="12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shared data structure between agents.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Keeps track of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vector</a:t>
                      </a:r>
                      <a:r>
                        <a:rPr lang="en-US" sz="1200"/>
                        <a:t> results,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serp</a:t>
                      </a:r>
                      <a:r>
                        <a:rPr lang="en-US" sz="1200"/>
                        <a:t> results, and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llm</a:t>
                      </a:r>
                      <a:r>
                        <a:rPr lang="en-US" sz="1200"/>
                        <a:t> output.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34290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HuggingFaceEmbeddings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Converts text → embeddings for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Uses model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"all-MiniLM-L6-v2"</a:t>
                      </a:r>
                      <a:r>
                        <a:rPr lang="en-GB" sz="120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881753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FAISS.load_local(...)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Loads pre-built vector index (e.g. from our product DB).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Lets us find semantically similar product descriptions.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58508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ChatGoogleGenerativeAI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Connects to </a:t>
                      </a:r>
                      <a:r>
                        <a:rPr lang="en-US" sz="1200" b="1"/>
                        <a:t>Gemini 2.5 Flash</a:t>
                      </a:r>
                      <a:r>
                        <a:rPr lang="en-US" sz="1200"/>
                        <a:t> model using Google API key.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Acts as the reasoning LLM that synthesizes search results.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1572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vector_search()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1 —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top 2 products similar to user’s query using FAISS.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8145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serp_search()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2 — web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Calls </a:t>
                      </a:r>
                      <a:r>
                        <a:rPr lang="en-US" sz="1200" b="1"/>
                        <a:t>SerpAPI</a:t>
                      </a:r>
                      <a:r>
                        <a:rPr lang="en-US" sz="1200"/>
                        <a:t> with query like “product reviews” to fetch latest info.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17963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llm_analyze()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3 — AI synthesis.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FAISS + web results + query, sends to Gemini for natural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281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StateGraph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workflow and node dependencies.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Flow: </a:t>
                      </a:r>
                      <a:r>
                        <a:rPr lang="en-GB" sz="1200" b="1"/>
                        <a:t>vector_node → serp_node → llm_node → END</a:t>
                      </a:r>
                      <a:r>
                        <a:rPr lang="en-GB" sz="120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81717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runnable = graph.compile()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Compiles the graph into an executable workflow.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We can now call 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.invoke()</a:t>
                      </a:r>
                      <a:r>
                        <a:rPr lang="en-US" sz="1200" dirty="0"/>
                        <a:t> to run the full pipeline.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052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Gradio callback function.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Invokes the graph and formats the final combined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48388"/>
                  </a:ext>
                </a:extLst>
              </a:tr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gr.ChatInterface(...)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Creates interactive chatbot UI.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Displays conversation like ChatGPT.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4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F0-F86D-8B12-0D58-3AAE54BE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3_7_langgraph_product_comparison_detail_recomend.py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38665D-96EA-AAB8-F8B4-572D77C24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7273" y="1609220"/>
          <a:ext cx="10868100" cy="5097483"/>
        </p:xfrm>
        <a:graphic>
          <a:graphicData uri="http://schemas.openxmlformats.org/drawingml/2006/table">
            <a:tbl>
              <a:tblPr/>
              <a:tblGrid>
                <a:gridCol w="2638498">
                  <a:extLst>
                    <a:ext uri="{9D8B030D-6E8A-4147-A177-3AD203B41FA5}">
                      <a16:colId xmlns:a16="http://schemas.microsoft.com/office/drawing/2014/main" val="2462292725"/>
                    </a:ext>
                  </a:extLst>
                </a:gridCol>
                <a:gridCol w="2795552">
                  <a:extLst>
                    <a:ext uri="{9D8B030D-6E8A-4147-A177-3AD203B41FA5}">
                      <a16:colId xmlns:a16="http://schemas.microsoft.com/office/drawing/2014/main" val="3481457457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926541090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0256219"/>
                    </a:ext>
                  </a:extLst>
                </a:gridCol>
              </a:tblGrid>
              <a:tr h="134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Step</a:t>
                      </a:r>
                      <a:endParaRPr lang="en-GB" sz="120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Process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Input / Output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0923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User Input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enters a product-related query in the Gradio interface.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system captures the query and sends it to the LangGraph pipeline.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Input Example:</a:t>
                      </a:r>
                      <a:r>
                        <a:rPr lang="en-US" sz="1200"/>
                        <a:t> “iPhone vs Samsung”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21338"/>
                  </a:ext>
                </a:extLst>
              </a:tr>
              <a:tr h="74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Node: Classify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Determines the query type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specific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US" sz="1200"/>
                        <a:t>, or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US" sz="120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Based on keywords in the query:• If it contains </a:t>
                      </a:r>
                      <a:r>
                        <a:rPr lang="en-US" sz="1200" i="1"/>
                        <a:t>“vs”</a:t>
                      </a:r>
                      <a:r>
                        <a:rPr lang="en-US" sz="1200"/>
                        <a:t> or </a:t>
                      </a:r>
                      <a:r>
                        <a:rPr lang="en-US" sz="1200" i="1"/>
                        <a:t>“compare”</a:t>
                      </a:r>
                      <a:r>
                        <a:rPr lang="en-US" sz="1200"/>
                        <a:t>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US" sz="1200"/>
                        <a:t>• If it contains </a:t>
                      </a:r>
                      <a:r>
                        <a:rPr lang="en-US" sz="1200" i="1"/>
                        <a:t>“best”</a:t>
                      </a:r>
                      <a:r>
                        <a:rPr lang="en-US" sz="1200"/>
                        <a:t> or </a:t>
                      </a:r>
                      <a:r>
                        <a:rPr lang="en-US" sz="1200" i="1"/>
                        <a:t>“recommend”</a:t>
                      </a:r>
                      <a:r>
                        <a:rPr lang="en-US" sz="1200"/>
                        <a:t>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US" sz="1200"/>
                        <a:t>• Otherwise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specific</a:t>
                      </a:r>
                      <a:endParaRPr lang="en-US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Detected Type:</a:t>
                      </a:r>
                      <a:r>
                        <a:rPr lang="en-GB" sz="1200"/>
                        <a:t>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compare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7486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Conditional Routing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Routes execution flow based on detected query type.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route()</a:t>
                      </a:r>
                      <a:r>
                        <a:rPr lang="en-US" sz="1200"/>
                        <a:t> function returns the node name to jump to next (e.g.,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"compare"</a:t>
                      </a:r>
                      <a:r>
                        <a:rPr lang="en-US" sz="120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Route Chosen:</a:t>
                      </a:r>
                      <a:r>
                        <a:rPr lang="en-GB" sz="1200"/>
                        <a:t>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"compare"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490370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Node: handle_specific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single-product lookups.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top 2 similar products from FAISS and uses Gemini to analyze the first product.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“iPhone 15”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“The iPhone 15 offers improved battery life and camera quality over its predecessor.”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44657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Node: handle_compare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product comparison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Retrieves top 4 related products and asks Gemini to compare them.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“iPhone vs Samsung”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“iPhone excels in camera quality, while Samsung provides better display and battery life.”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54522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Node: handle_recommend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recommendation-style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Retrieves top 3 related products and asks Gemini for a recommendation.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“Best laptop”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“Based on your query, Dell XPS 13 offers the best balance of performance and portability.”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196522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7. Graph Edges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Connects classify → specific / compare / recommend → END.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flow stops after the selected node finishes execution.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—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3817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8. Gradio Chat Output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structured output to the user.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query type and LLM result in a formatted message.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Type:</a:t>
                      </a:r>
                      <a:r>
                        <a:rPr lang="en-US" sz="1200" dirty="0"/>
                        <a:t> compare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AI Output:</a:t>
                      </a:r>
                      <a:r>
                        <a:rPr lang="en-US" sz="1200" dirty="0"/>
                        <a:t> iPhone excels in camera quality, Samsung in display.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7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925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D79-A6B0-985C-1E8D-CC5911F1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3_8_langgraph_react_style_agent.py</a:t>
            </a:r>
            <a:br>
              <a:rPr lang="en-GB" sz="3600" dirty="0"/>
            </a:br>
            <a:r>
              <a:rPr lang="en-IN" sz="3600" dirty="0" err="1"/>
              <a:t>ReAct</a:t>
            </a:r>
            <a:r>
              <a:rPr lang="en-IN" sz="3600" dirty="0"/>
              <a:t> Style Claude + FAISS + </a:t>
            </a:r>
            <a:r>
              <a:rPr lang="en-IN" sz="3600" dirty="0" err="1"/>
              <a:t>SerpAPI</a:t>
            </a:r>
            <a:r>
              <a:rPr lang="en-IN" sz="3600" dirty="0"/>
              <a:t> Agent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6E28A-1602-95BD-AA0C-D863B8301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0343"/>
          <a:ext cx="10515600" cy="5102591"/>
        </p:xfrm>
        <a:graphic>
          <a:graphicData uri="http://schemas.openxmlformats.org/drawingml/2006/table">
            <a:tbl>
              <a:tblPr/>
              <a:tblGrid>
                <a:gridCol w="739314">
                  <a:extLst>
                    <a:ext uri="{9D8B030D-6E8A-4147-A177-3AD203B41FA5}">
                      <a16:colId xmlns:a16="http://schemas.microsoft.com/office/drawing/2014/main" val="3521060861"/>
                    </a:ext>
                  </a:extLst>
                </a:gridCol>
                <a:gridCol w="1486773">
                  <a:extLst>
                    <a:ext uri="{9D8B030D-6E8A-4147-A177-3AD203B41FA5}">
                      <a16:colId xmlns:a16="http://schemas.microsoft.com/office/drawing/2014/main" val="3192508437"/>
                    </a:ext>
                  </a:extLst>
                </a:gridCol>
                <a:gridCol w="3915865">
                  <a:extLst>
                    <a:ext uri="{9D8B030D-6E8A-4147-A177-3AD203B41FA5}">
                      <a16:colId xmlns:a16="http://schemas.microsoft.com/office/drawing/2014/main" val="3694979926"/>
                    </a:ext>
                  </a:extLst>
                </a:gridCol>
                <a:gridCol w="4373648">
                  <a:extLst>
                    <a:ext uri="{9D8B030D-6E8A-4147-A177-3AD203B41FA5}">
                      <a16:colId xmlns:a16="http://schemas.microsoft.com/office/drawing/2014/main" val="331407759"/>
                    </a:ext>
                  </a:extLst>
                </a:gridCol>
              </a:tblGrid>
              <a:tr h="7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Step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Code Section / Function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What Happens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Example / Output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65426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gr.Interface</a:t>
                      </a:r>
                      <a:r>
                        <a:rPr lang="en-GB" sz="1050"/>
                        <a:t> → user enters query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User types a query like </a:t>
                      </a:r>
                      <a:r>
                        <a:rPr lang="en-US" sz="1050" i="1"/>
                        <a:t>“best headphones reviews”</a:t>
                      </a:r>
                      <a:r>
                        <a:rPr lang="en-US" sz="1050"/>
                        <a:t> in the Gradio chat UI.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Query = </a:t>
                      </a:r>
                      <a:r>
                        <a:rPr lang="en-GB" sz="105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38741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2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respond()</a:t>
                      </a:r>
                      <a:r>
                        <a:rPr lang="en-GB" sz="1050"/>
                        <a:t> (callback)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Function receives the query and passes it to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react_agent(query)</a:t>
                      </a:r>
                      <a:r>
                        <a:rPr lang="en-US" sz="1050"/>
                        <a:t> generator.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Sends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"best headphones reviews"</a:t>
                      </a:r>
                      <a:r>
                        <a:rPr lang="en-US" sz="1050"/>
                        <a:t> to ReAct agent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73049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3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react_agent(query)</a:t>
                      </a:r>
                      <a:r>
                        <a:rPr lang="en-US" sz="1050"/>
                        <a:t> initializes state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 dictionary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state</a:t>
                      </a:r>
                      <a:r>
                        <a:rPr lang="en-US" sz="1050" dirty="0"/>
                        <a:t> is created to track: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US" sz="1050" dirty="0"/>
                        <a:t> — user question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history</a:t>
                      </a:r>
                      <a:r>
                        <a:rPr lang="en-US" sz="1050" dirty="0"/>
                        <a:t> — all reasoning steps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US" sz="1050" dirty="0"/>
                        <a:t> — final LLM answer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state = {"query": "best headphones reviews", "history": ["User: best headphones reviews"], "final": ""}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33466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4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Prompt construction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 long </a:t>
                      </a:r>
                      <a:r>
                        <a:rPr lang="en-US" sz="1050" b="1"/>
                        <a:t>instruction prompt</a:t>
                      </a:r>
                      <a:r>
                        <a:rPr lang="en-US" sz="1050"/>
                        <a:t> is created explaining the strict ReAct output format (Thought → Action).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Prompt sent to Claude instructs it to produce one of: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Search[...]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SerpSearch[...]</a:t>
                      </a:r>
                      <a:r>
                        <a:rPr lang="en-US" sz="1050"/>
                        <a:t>, or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Finalize[...]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375396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5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llm.stream(prompt)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Claude starts streaming its reasoning step-by-step. The model outputs lines like: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Thought: I should look up reviews.Action: SerpSearch[best headphones reviews]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Streaming LLM response is collected in variable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response</a:t>
                      </a:r>
                      <a:r>
                        <a:rPr lang="en-US" sz="105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32452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6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Regex parsing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Code uses regex to extract the </a:t>
                      </a:r>
                      <a:r>
                        <a:rPr lang="en-US" sz="1050" b="1" dirty="0"/>
                        <a:t>action type</a:t>
                      </a:r>
                      <a:r>
                        <a:rPr lang="en-US" sz="1050" dirty="0"/>
                        <a:t> and </a:t>
                      </a:r>
                      <a:r>
                        <a:rPr lang="en-US" sz="1050" b="1" dirty="0"/>
                        <a:t>argument</a:t>
                      </a:r>
                      <a:r>
                        <a:rPr lang="en-US" sz="1050" dirty="0"/>
                        <a:t>:</a:t>
                      </a:r>
                    </a:p>
                    <a:p>
                      <a:pPr>
                        <a:buNone/>
                      </a:pP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(1)</a:t>
                      </a:r>
                      <a:r>
                        <a:rPr lang="en-US" sz="1050" dirty="0"/>
                        <a:t> =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serpsearch</a:t>
                      </a:r>
                      <a:endParaRPr lang="en-US" sz="1050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(2)</a:t>
                      </a:r>
                      <a:r>
                        <a:rPr lang="en-US" sz="1050" dirty="0"/>
                        <a:t> =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US" sz="105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action = "serpsearch"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arg = "best headphones reviews"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94937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7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Execute tool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Depending on the action: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US" sz="1050" dirty="0"/>
                        <a:t> → calls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tool_search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050" dirty="0"/>
                        <a:t> (uses FAISS),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US" sz="1050" dirty="0"/>
                        <a:t> → calls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050" dirty="0"/>
                        <a:t> (uses </a:t>
                      </a:r>
                      <a:r>
                        <a:rPr lang="en-US" sz="1050" dirty="0" err="1"/>
                        <a:t>SerpAPI</a:t>
                      </a:r>
                      <a:r>
                        <a:rPr lang="en-US" sz="1050" dirty="0"/>
                        <a:t>),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US" sz="1050" dirty="0"/>
                        <a:t> → ends loop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tool_serp("best headphones reviews")</a:t>
                      </a:r>
                      <a:r>
                        <a:rPr lang="en-US" sz="1050"/>
                        <a:t> fetches top Google results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76127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8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Observation appended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tool’s output is appended to the conversation </a:t>
                      </a:r>
                      <a:r>
                        <a:rPr lang="en-US" sz="1050" dirty="0" err="1"/>
                        <a:t>as: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: &lt;tool output&gt;</a:t>
                      </a:r>
                      <a:endParaRPr lang="en-US" sz="105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Example: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Observation: • Best Headphones 2024 — Excellent sound.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03300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9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Loop continues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updated history (with observation) is re-fed into Claude. It reasons again, possibly chaining multiple search actions.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Claude may produce another Thought + Action pair.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72835"/>
                  </a:ext>
                </a:extLst>
              </a:tr>
              <a:tr h="361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10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Action: Finalize[...]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When Claude outputs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Finalize[...]</a:t>
                      </a:r>
                      <a:r>
                        <a:rPr lang="en-US" sz="1050" dirty="0"/>
                        <a:t>, the loop stops and the content inside brackets is returned as the final answer.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Action: Finalize[Sony WH-1000XM5 is the best choice overall.]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44389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11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Yield to Gradio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intermediate and final outputs are </a:t>
                      </a:r>
                      <a:r>
                        <a:rPr lang="en-US" sz="1050" b="1" dirty="0"/>
                        <a:t>streamed</a:t>
                      </a:r>
                      <a:r>
                        <a:rPr lang="en-US" sz="1050" dirty="0"/>
                        <a:t> back to the </a:t>
                      </a:r>
                      <a:r>
                        <a:rPr lang="en-US" sz="1050" dirty="0" err="1"/>
                        <a:t>Gradio</a:t>
                      </a:r>
                      <a:r>
                        <a:rPr lang="en-US" sz="1050" dirty="0"/>
                        <a:t> UI via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yield</a:t>
                      </a:r>
                      <a:r>
                        <a:rPr lang="en-US" sz="105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Shows “Working…” during reasoning and displays final answer when ready.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1574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12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UI Display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chatbot displays the trace (Thoughts, Actions, Observations) and the final answer in Markdown format.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Final Answer:</a:t>
                      </a:r>
                      <a:r>
                        <a:rPr lang="en-US" sz="1050" dirty="0"/>
                        <a:t> “Sony WH-1000XM5 offers the best noise cancellation.”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9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07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8F61-714C-66D6-2AF6-0945CD44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1FA24-C44F-3E4D-4EEB-0A99117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3_8_langgraph_react_style_agent.py</a:t>
            </a:r>
            <a:br>
              <a:rPr lang="en-GB" sz="3200" dirty="0"/>
            </a:br>
            <a:r>
              <a:rPr lang="en-IN" sz="3200" dirty="0" err="1"/>
              <a:t>ReAct</a:t>
            </a:r>
            <a:r>
              <a:rPr lang="en-IN" sz="3200" dirty="0"/>
              <a:t> Style Claude + FAISS + </a:t>
            </a:r>
            <a:r>
              <a:rPr lang="en-IN" sz="3200" dirty="0" err="1"/>
              <a:t>SerpAPI</a:t>
            </a:r>
            <a:r>
              <a:rPr lang="en-IN" sz="3200" dirty="0"/>
              <a:t> Agent</a:t>
            </a:r>
            <a:endParaRPr lang="en-GB" sz="3200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3C1499-2FAE-EEF0-019E-FE1284C746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1844" y="1363987"/>
          <a:ext cx="10588312" cy="5053149"/>
        </p:xfrm>
        <a:graphic>
          <a:graphicData uri="http://schemas.openxmlformats.org/drawingml/2006/table">
            <a:tbl>
              <a:tblPr/>
              <a:tblGrid>
                <a:gridCol w="1353568">
                  <a:extLst>
                    <a:ext uri="{9D8B030D-6E8A-4147-A177-3AD203B41FA5}">
                      <a16:colId xmlns:a16="http://schemas.microsoft.com/office/drawing/2014/main" val="1744963784"/>
                    </a:ext>
                  </a:extLst>
                </a:gridCol>
                <a:gridCol w="2653913">
                  <a:extLst>
                    <a:ext uri="{9D8B030D-6E8A-4147-A177-3AD203B41FA5}">
                      <a16:colId xmlns:a16="http://schemas.microsoft.com/office/drawing/2014/main" val="3585029963"/>
                    </a:ext>
                  </a:extLst>
                </a:gridCol>
                <a:gridCol w="3933753">
                  <a:extLst>
                    <a:ext uri="{9D8B030D-6E8A-4147-A177-3AD203B41FA5}">
                      <a16:colId xmlns:a16="http://schemas.microsoft.com/office/drawing/2014/main" val="1545552455"/>
                    </a:ext>
                  </a:extLst>
                </a:gridCol>
                <a:gridCol w="2647078">
                  <a:extLst>
                    <a:ext uri="{9D8B030D-6E8A-4147-A177-3AD203B41FA5}">
                      <a16:colId xmlns:a16="http://schemas.microsoft.com/office/drawing/2014/main" val="1488682572"/>
                    </a:ext>
                  </a:extLst>
                </a:gridCol>
              </a:tblGrid>
              <a:tr h="9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Step / Component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Purpose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/ Behavior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90867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Vector Database Setup (FAISS)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Retrieve semantically similar products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Loads a prebuilt FAISS vector index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product_embeddings_faiss</a:t>
                      </a:r>
                      <a:r>
                        <a:rPr lang="en-US" sz="1200"/>
                        <a:t>) with </a:t>
                      </a:r>
                      <a:r>
                        <a:rPr lang="en-US" sz="1200" b="1"/>
                        <a:t>HuggingFace embeddings</a:t>
                      </a:r>
                      <a:r>
                        <a:rPr lang="en-US" sz="1200"/>
                        <a:t> to support similarity search.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Query: “best camera” → Returns: </a:t>
                      </a:r>
                      <a:r>
                        <a:rPr lang="en-US" sz="1200" i="1"/>
                        <a:t>Canon EOS 1500D, Nikon D3500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013521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LLM Setup (Claude)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Acts as the reasoning engine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</a:t>
                      </a:r>
                      <a:r>
                        <a:rPr lang="en-US" sz="1200" b="1"/>
                        <a:t>Anthropic’s Claude 3.5 Sonnet</a:t>
                      </a:r>
                      <a:r>
                        <a:rPr lang="en-US" sz="1200"/>
                        <a:t> model in </a:t>
                      </a:r>
                      <a:r>
                        <a:rPr lang="en-US" sz="1200" i="1"/>
                        <a:t>streaming</a:t>
                      </a:r>
                      <a:r>
                        <a:rPr lang="en-US" sz="1200"/>
                        <a:t> mode to simulate reasoning and actions using the </a:t>
                      </a:r>
                      <a:r>
                        <a:rPr lang="en-US" sz="1200" b="1"/>
                        <a:t>ReAct (Reason + Act)</a:t>
                      </a:r>
                      <a:r>
                        <a:rPr lang="en-US" sz="1200"/>
                        <a:t> framework.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model outputs structured steps like: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Thought: I should check similar products.Action: Search[budget cameras]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50812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Tools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external capabilities for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Two helper functions the LLM can “call”:• </a:t>
                      </a:r>
                      <a:r>
                        <a:rPr lang="en-US" sz="1200" b="1"/>
                        <a:t>tool_search()</a:t>
                      </a:r>
                      <a:r>
                        <a:rPr lang="en-US" sz="1200"/>
                        <a:t> — queries FAISS DB• </a:t>
                      </a:r>
                      <a:r>
                        <a:rPr lang="en-US" sz="1200" b="1"/>
                        <a:t>tool_serp()</a:t>
                      </a:r>
                      <a:r>
                        <a:rPr lang="en-US" sz="1200"/>
                        <a:t> — fetches live web data via SerpAPI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Search[DSLR cameras]</a:t>
                      </a:r>
                      <a:r>
                        <a:rPr lang="en-US" sz="1200"/>
                        <a:t> → tool_search()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SerpSearch[DSLR reviews]</a:t>
                      </a:r>
                      <a:r>
                        <a:rPr lang="en-US" sz="1200"/>
                        <a:t> → tool_serp()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374376"/>
                  </a:ext>
                </a:extLst>
              </a:tr>
              <a:tr h="7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ReAct Agent Loop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Core control mechanism that iteratively reasons, acts, and observes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loop sends the LLM the conversation + strict format prompt → waits for an </a:t>
                      </a:r>
                      <a:r>
                        <a:rPr lang="en-US" sz="1200" b="1"/>
                        <a:t>Action[...]</a:t>
                      </a:r>
                      <a:r>
                        <a:rPr lang="en-US" sz="1200"/>
                        <a:t> response → executes the corresponding tool → appends </a:t>
                      </a:r>
                      <a:r>
                        <a:rPr lang="en-US" sz="1200" b="1"/>
                        <a:t>Observation:</a:t>
                      </a:r>
                      <a:r>
                        <a:rPr lang="en-US" sz="1200"/>
                        <a:t> results → loops again until </a:t>
                      </a:r>
                      <a:r>
                        <a:rPr lang="en-US" sz="1200" b="1"/>
                        <a:t>Finalize[...]</a:t>
                      </a:r>
                      <a:r>
                        <a:rPr lang="en-US" sz="1200"/>
                        <a:t> is produced.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Iteration example:Thought → Action → Observation → next Thought... → Finalize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19454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Parsing Actions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Interprets the LLM’s structured output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Extracts action name and argument from lines like: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Action: SerpSearch[best headphones reviews]</a:t>
                      </a:r>
                      <a:r>
                        <a:rPr lang="en-US" sz="1200"/>
                        <a:t>using regex → determines what to execute next.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Action: Search[cheap laptops]</a:t>
                      </a:r>
                      <a:r>
                        <a:rPr lang="en-US" sz="1200"/>
                        <a:t> → triggers FAISS search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82354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Observations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Feeds tool results back to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output from the selected tool is appended to the </a:t>
                      </a:r>
                      <a:r>
                        <a:rPr lang="en-US" sz="1200" b="1"/>
                        <a:t>conversation history</a:t>
                      </a:r>
                      <a:r>
                        <a:rPr lang="en-US" sz="1200"/>
                        <a:t> as an observation so the LLM can use it for further reasoning.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Observation: “Canon EOS 1500D and Nikon D3500 found.”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39655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7. Finalization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Stops reasoning loop and produces answer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When the LLM outputs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Action: Finalize[...]</a:t>
                      </a:r>
                      <a:r>
                        <a:rPr lang="en-US" sz="1200"/>
                        <a:t>, the loop ends and returns the content inside brackets as the final result.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Action: Finalize[Canon EOS 1500D offers best balance of price and quality.]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723510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8. Gradio Interface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an interactive, streaming chat UI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reasoning trace in real time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US" sz="1200"/>
                        <a:t>) using </a:t>
                      </a:r>
                      <a:r>
                        <a:rPr lang="en-US" sz="1200" b="1"/>
                        <a:t>Gradio Chatbot</a:t>
                      </a:r>
                      <a:r>
                        <a:rPr lang="en-US" sz="1200"/>
                        <a:t>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User sees each reasoning step unfold live as Claude thinks and acts.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34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238D-7019-B499-9769-53859BA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C1C-D194-D265-35DC-9590E916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Patterns Used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9A64A-C4EF-A8CD-DBB7-039555DE9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6331" y="1539439"/>
          <a:ext cx="10909980" cy="508987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61278">
                  <a:extLst>
                    <a:ext uri="{9D8B030D-6E8A-4147-A177-3AD203B41FA5}">
                      <a16:colId xmlns:a16="http://schemas.microsoft.com/office/drawing/2014/main" val="156457866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404358572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1126340586"/>
                    </a:ext>
                  </a:extLst>
                </a:gridCol>
              </a:tblGrid>
              <a:tr h="17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Concept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Components / Example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158772218"/>
                  </a:ext>
                </a:extLst>
              </a:tr>
              <a:tr h="133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 ReAct (Reasoning and Acting)</a:t>
                      </a:r>
                      <a:endParaRPr lang="en-US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Central pattern where the LLM “thinks” before it “acts.”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Reasoning (Thought):</a:t>
                      </a:r>
                      <a:r>
                        <a:rPr lang="en-US" sz="1800"/>
                        <a:t> Generates internal reasoning to plan next move.</a:t>
                      </a:r>
                      <a:r>
                        <a:rPr lang="en-US" sz="1800" b="1"/>
                        <a:t>Acting (Action):</a:t>
                      </a:r>
                      <a:r>
                        <a:rPr lang="en-US" sz="1800"/>
                        <a:t> Executes a structured action (e.g., Search[query], SerpSearch[query], Ntfy[message]).</a:t>
                      </a:r>
                      <a:r>
                        <a:rPr lang="en-US" sz="1800" b="1"/>
                        <a:t>Observing (Observation):</a:t>
                      </a:r>
                      <a:r>
                        <a:rPr lang="en-US" sz="1800"/>
                        <a:t> Receives action output, feeds it back to the LLM for next step.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685049149"/>
                  </a:ext>
                </a:extLst>
              </a:tr>
              <a:tr h="947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2. Multi-Tool Use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 can use multiple tools to accomplish a task, not limited to one.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tool_search:</a:t>
                      </a:r>
                      <a:r>
                        <a:rPr lang="en-GB" sz="1800"/>
                        <a:t> Retrieve internal structured data (FAISS).</a:t>
                      </a:r>
                      <a:r>
                        <a:rPr lang="en-GB" sz="1800" b="1"/>
                        <a:t>tool_serp:</a:t>
                      </a:r>
                      <a:r>
                        <a:rPr lang="en-GB" sz="1800"/>
                        <a:t> Perform external web searches (SerpAPI).</a:t>
                      </a:r>
                      <a:r>
                        <a:rPr lang="en-GB" sz="1800" b="1"/>
                        <a:t>tool_ntfy:</a:t>
                      </a:r>
                      <a:r>
                        <a:rPr lang="en-GB" sz="1800"/>
                        <a:t> Send external asynchronous notifications.</a:t>
                      </a:r>
                      <a:r>
                        <a:rPr lang="en-GB" sz="1800" b="1"/>
                        <a:t>Finalize:</a:t>
                      </a:r>
                      <a:r>
                        <a:rPr lang="en-GB" sz="1800"/>
                        <a:t> Marks the end of process, providing final answer.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021538234"/>
                  </a:ext>
                </a:extLst>
              </a:tr>
              <a:tr h="81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3. Agent Loop / Iterative Refinement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 continuously iterates until a final answer is produced.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Uses while True loop inside react_agent.Executes repeated </a:t>
                      </a:r>
                      <a:r>
                        <a:rPr lang="en-US" sz="1800" b="1"/>
                        <a:t>Thought → Action → Observation</a:t>
                      </a:r>
                      <a:r>
                        <a:rPr lang="en-US" sz="1800"/>
                        <a:t> cycles.Can adjust strategy based on previous observations (e.g., try a different query if SerpSearch fails).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451936954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4. State Management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Maintains context and history throughout the agent’s operation.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Uses a dictionary: state = {"query": query, "history": [</a:t>
                      </a:r>
                      <a:r>
                        <a:rPr lang="en-US" sz="1800" dirty="0" err="1"/>
                        <a:t>f"User</a:t>
                      </a:r>
                      <a:r>
                        <a:rPr lang="en-US" sz="1800" dirty="0"/>
                        <a:t>: {query}"], "final": ""}.</a:t>
                      </a:r>
                      <a:r>
                        <a:rPr lang="en-US" sz="1800" b="1" dirty="0"/>
                        <a:t>history:</a:t>
                      </a:r>
                      <a:r>
                        <a:rPr lang="en-US" sz="1800" dirty="0"/>
                        <a:t> Tracks all thoughts, actions, and observations so the agent “remembers” context and progress.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08467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7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16C7-C2F6-1A6B-2239-57C71E50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2FAB-D6F0-26CC-EEF0-2AB3DCF5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Agentic Patterns/Features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69078-4DF2-4A18-0F2C-BC4ED0AEE0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7" y="1428759"/>
          <a:ext cx="10515600" cy="53035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049745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872147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2593708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Guardrails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 queries that contain objectionable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3_10_langgraph_guardrails.py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Long Term Memory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long term memory using an in-memory database (SQLite). If a user enters the same question as another user previously, load it from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3_11_langgraph_long_term_memory.py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Explainability &amp; Transparency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Explain why certain product matches are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3_12_langgraph_explainability.py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Observability &amp; Monitoring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events and allow the admin to access the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3_13_langgraph_observability.py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Human In The Loop (HITL)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user can approve the search results, or edit them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3_14_langgraph_hitl.py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Adding </a:t>
                      </a:r>
                      <a:r>
                        <a:rPr lang="en-IN" b="1" dirty="0" err="1"/>
                        <a:t>ChromaDB</a:t>
                      </a:r>
                      <a:r>
                        <a:rPr lang="en-IN" b="1" dirty="0"/>
                        <a:t>-based RAG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First run 3_before_3_15_chromadb.py to create vector embeddings using Hugging Face and store them in </a:t>
                      </a:r>
                      <a:r>
                        <a:rPr lang="en-US" dirty="0" err="1"/>
                        <a:t>ChromaDB</a:t>
                      </a:r>
                      <a:r>
                        <a:rPr lang="en-US" dirty="0"/>
                        <a:t> for house prices, then use them for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3_15_langgraph_chromadb.py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29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5866</Words>
  <Application>Microsoft Office PowerPoint</Application>
  <PresentationFormat>Widescreen</PresentationFormat>
  <Paragraphs>821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Cascadia Code</vt:lpstr>
      <vt:lpstr>Courier New</vt:lpstr>
      <vt:lpstr>Office Theme</vt:lpstr>
      <vt:lpstr>3) LangGraph</vt:lpstr>
      <vt:lpstr>Evolution of Approaches to Work with LLMs</vt:lpstr>
      <vt:lpstr>Comparison of the Approaches</vt:lpstr>
      <vt:lpstr>LangChain and LangGraph</vt:lpstr>
      <vt:lpstr>LangChain versus LangGraph</vt:lpstr>
      <vt:lpstr>LangGraph:  Key Components</vt:lpstr>
      <vt:lpstr>First LangGraph Application (C:\code\agenticai\3_langgraph\3_1_langgraph_basic.py)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LangGraph Memory Options</vt:lpstr>
      <vt:lpstr>Memory Details</vt:lpstr>
      <vt:lpstr>ChromaDB</vt:lpstr>
      <vt:lpstr>PowerPoint Presentation</vt:lpstr>
      <vt:lpstr>Embedding and Storage in ChromaDB</vt:lpstr>
      <vt:lpstr>Representation Inside ChromaDB</vt:lpstr>
      <vt:lpstr>3_6_langgraph_product_vector_and_google_search.py</vt:lpstr>
      <vt:lpstr>3_6_langgraph_product_vector_and_google_search.py</vt:lpstr>
      <vt:lpstr>3_7_langgraph_product_comparison_detail_recomend.py</vt:lpstr>
      <vt:lpstr>3_8_langgraph_react_style_agent.py ReAct Style Claude + FAISS + SerpAPI Agent</vt:lpstr>
      <vt:lpstr>3_8_langgraph_react_style_agent.py ReAct Style Claude + FAISS + SerpAPI Agent</vt:lpstr>
      <vt:lpstr>Agentic Patterns Used</vt:lpstr>
      <vt:lpstr>More Agentic Patterns/Features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4</cp:revision>
  <dcterms:created xsi:type="dcterms:W3CDTF">2025-10-07T06:31:08Z</dcterms:created>
  <dcterms:modified xsi:type="dcterms:W3CDTF">2025-11-14T14:47:52Z</dcterms:modified>
</cp:coreProperties>
</file>