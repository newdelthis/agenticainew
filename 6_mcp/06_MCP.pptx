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99" r:id="rId2"/>
    <p:sldId id="701" r:id="rId3"/>
    <p:sldId id="722" r:id="rId4"/>
    <p:sldId id="723" r:id="rId5"/>
    <p:sldId id="724" r:id="rId6"/>
    <p:sldId id="725" r:id="rId7"/>
    <p:sldId id="587" r:id="rId8"/>
    <p:sldId id="658" r:id="rId9"/>
    <p:sldId id="588" r:id="rId10"/>
    <p:sldId id="616" r:id="rId11"/>
    <p:sldId id="622" r:id="rId12"/>
    <p:sldId id="628" r:id="rId13"/>
    <p:sldId id="678" r:id="rId14"/>
    <p:sldId id="679" r:id="rId15"/>
    <p:sldId id="71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46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3B8AD-50B3-3170-12EF-5D8CE3A634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77411B-4665-51B3-0C43-F2E0FCD6E0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4F3FF-FCD0-10DF-0C4D-D070FC56E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05695-CADE-4E5E-A674-B9F8BAB0325C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C2DF9E-5F86-78C3-6E05-9C0127ECF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7C1D3-6C5E-BD69-217A-38967C71E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1FC5F-46B8-4672-9804-EBACE72A84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8181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284E5-7694-AF21-434A-15B0726A2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52D987-A7CC-0199-E889-412C0C5DB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98230-76AA-1C63-AAEF-3ABF2AE45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05695-CADE-4E5E-A674-B9F8BAB0325C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16A26-6A4E-2739-85D0-6C74F9A4B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7F688-8731-174C-AFD7-E248DA766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1FC5F-46B8-4672-9804-EBACE72A84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1748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DD58C-D329-262E-BEA2-2B261F896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77A84-F10A-A92B-4C90-C43C83596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638327-3A66-9EEA-0B63-121AF96D8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05695-CADE-4E5E-A674-B9F8BAB0325C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AC77F-503B-3AF9-6D9D-3416543AA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04DC9E-9329-51A0-249F-C2041E7EF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1FC5F-46B8-4672-9804-EBACE72A84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5603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BB588-2600-551E-4C3C-E8B80F1F1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96612-A77C-0B23-B368-07177EE349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154441-FA2D-563E-A43E-F7F384DFBD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1357F7-1E22-DC85-4F77-9DAF98678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05695-CADE-4E5E-A674-B9F8BAB0325C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19E0DB-23BB-F569-4125-D4A528932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1BB9FC-218A-1687-676C-A07F02A1C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1FC5F-46B8-4672-9804-EBACE72A84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7736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4828E-D997-5D1D-7E3D-CDDC73DB4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197BB4-ED60-0DA4-E1FA-E4678A0CB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03ACE5-1AA3-3A73-4EA8-DFD7FCDD63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B04D38-1A7C-68DB-95B5-DE85197556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F814A6-9B94-7F18-82EE-660AC96FE4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B2859A-4A2B-354F-7E04-04763DE19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05695-CADE-4E5E-A674-B9F8BAB0325C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B9C066-2E2C-8EC2-FFE1-5384B2DBD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BFF92E-36E0-2D3F-677D-475355D9B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1FC5F-46B8-4672-9804-EBACE72A84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5612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AB03D-1647-E84A-C00B-E05DBD26C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206C52-C05F-2509-249F-D5F0B5B09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05695-CADE-4E5E-A674-B9F8BAB0325C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B05264-D5CE-2DC3-CC37-86AC4B5B6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A1464D-3CF7-92C6-BDC8-0EDDBFF37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1FC5F-46B8-4672-9804-EBACE72A84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9931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6A0A35-5A1F-8608-A6C4-7B813F15E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05695-CADE-4E5E-A674-B9F8BAB0325C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D4E6F1-720F-C92D-4D30-84302FAFD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43D59-B310-1600-10AB-199B41395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1FC5F-46B8-4672-9804-EBACE72A84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0979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2DD5C-80FB-A0B7-4A3D-078F93CF9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ADE40-F670-48A4-7E09-B5BF052E40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644E22-4348-AC8E-48C1-286C56E173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954C9D-840B-AB4D-3731-AF4D924C2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05695-CADE-4E5E-A674-B9F8BAB0325C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090874-EEEE-215C-3651-D9EBCE931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6792F5-EF62-1179-59FA-9D77BDF74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1FC5F-46B8-4672-9804-EBACE72A84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0959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5A84D-7F95-6252-203A-906FEFED6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57A5B9-DB17-C2F5-2DB6-2C4C455F99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438E29-D661-245C-B2B1-0984095651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2F23C-0BEE-99AD-D04A-977548D22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05695-CADE-4E5E-A674-B9F8BAB0325C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88AE51-259C-40D5-A94F-4A122B313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72A0C9-D3C0-09EF-D492-ED172410D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1FC5F-46B8-4672-9804-EBACE72A84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4996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7FE82-A612-2DC0-1C60-3544C694B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7E6C71-F46A-0F9F-5A77-2F3890BEC8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D5098-CC99-AC53-4610-6B39AAEFF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05695-CADE-4E5E-A674-B9F8BAB0325C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B17D06-0878-631D-A37A-C097F8A98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F827F-4FB8-83DD-7D5C-F15D5B2E2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1FC5F-46B8-4672-9804-EBACE72A84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6681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3F8C9E-C014-7DB7-C54C-CD044D3B98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17D209-5502-3501-AE71-9F37B65585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99552-7FB3-9A7B-359B-059A95DDA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05695-CADE-4E5E-A674-B9F8BAB0325C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2D284-DD67-CACE-1912-65BAD400A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009C6-0774-A3F9-4907-F40B55298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1FC5F-46B8-4672-9804-EBACE72A84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5427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4D4A43-91C0-5EA6-0CC1-5DC5F58C1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70497B-237C-0FCB-3921-5883868FE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8BC032-B885-5964-B470-5A71E59204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705695-CADE-4E5E-A674-B9F8BAB0325C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7B1B4-CC31-02AC-4A47-EBB8BD64F7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73C75-9213-8780-6AAB-3E136DC92E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81FC5F-46B8-4672-9804-EBACE72A84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7889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mailto:ae@gmail.com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mailto:john@example.com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hyperlink" Target="https://creativecommons.org/licenses/by/3.0/" TargetMode="External"/><Relationship Id="rId3" Type="http://schemas.openxmlformats.org/officeDocument/2006/relationships/hyperlink" Target="https://courses.lumenlearning.com/wmopen-compapp/chapter/terminology/" TargetMode="External"/><Relationship Id="rId7" Type="http://schemas.openxmlformats.org/officeDocument/2006/relationships/hyperlink" Target="https://encore.dev/blog/mcp-server" TargetMode="External"/><Relationship Id="rId12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hyperlink" Target="https://www.checkpoint.com/cyber-hub/cyber-security/what-is-remote-code-execution-rce/" TargetMode="External"/><Relationship Id="rId5" Type="http://schemas.openxmlformats.org/officeDocument/2006/relationships/hyperlink" Target="https://bochickenstore.com/products/ban-tai-khoan-claude-ai-pro-gia-re-1-thang" TargetMode="External"/><Relationship Id="rId10" Type="http://schemas.openxmlformats.org/officeDocument/2006/relationships/image" Target="../media/image5.jpg"/><Relationship Id="rId4" Type="http://schemas.openxmlformats.org/officeDocument/2006/relationships/image" Target="../media/image2.png"/><Relationship Id="rId9" Type="http://schemas.openxmlformats.org/officeDocument/2006/relationships/hyperlink" Target="https://icon-library.com/png/838526.html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claude.ai/download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modelcontextprotocol.io/clients?utm_source=chatgpt.com" TargetMode="External"/><Relationship Id="rId2" Type="http://schemas.openxmlformats.org/officeDocument/2006/relationships/hyperlink" Target="https://modelcontextprotocol.info/docs/clients/?utm_source=chatgpt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lama.ai/mcp/clients?utm_source=chatgpt.com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ublic-apis/public-apis" TargetMode="External"/><Relationship Id="rId2" Type="http://schemas.openxmlformats.org/officeDocument/2006/relationships/hyperlink" Target="https://github.com/openbnb-org/mcp-server-Airbnb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penbnb-org/mcp-server-airbnb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api.coingecko.com/api/v3/simple/price?ids=bitcoin&amp;vs_currencies=inr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smithery.ai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FB8EFD-5F28-B79E-B7DA-E2A3044E9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6) MCP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A9AF55-3818-E530-A8E6-82D4EF6B4B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Atul Kahate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5496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14D7C99-B457-F573-8A15-AAD7C128A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822"/>
            <a:ext cx="10515600" cy="618216"/>
          </a:xfrm>
        </p:spPr>
        <p:txBody>
          <a:bodyPr>
            <a:normAutofit fontScale="90000"/>
          </a:bodyPr>
          <a:lstStyle/>
          <a:p>
            <a:r>
              <a:rPr lang="en-IN" dirty="0"/>
              <a:t>MCP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A291DAB-01E6-0765-4936-076D00739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28214"/>
            <a:ext cx="10515600" cy="5548749"/>
          </a:xfrm>
        </p:spPr>
        <p:txBody>
          <a:bodyPr>
            <a:normAutofit/>
          </a:bodyPr>
          <a:lstStyle/>
          <a:p>
            <a:r>
              <a:rPr lang="en-IN" sz="2400" b="1" dirty="0"/>
              <a:t>Model Context Protocol (MCP)</a:t>
            </a:r>
            <a:r>
              <a:rPr lang="en-IN" sz="2400" dirty="0"/>
              <a:t>: A new open standard that allows AI models/apps to talk to external tools, data sources or APIs in a structured, secure, and consistent manner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733480-B74E-DCD1-F617-32BE9522A649}"/>
              </a:ext>
            </a:extLst>
          </p:cNvPr>
          <p:cNvSpPr txBox="1"/>
          <p:nvPr/>
        </p:nvSpPr>
        <p:spPr>
          <a:xfrm>
            <a:off x="1249447" y="3262640"/>
            <a:ext cx="732916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Host</a:t>
            </a:r>
            <a:endParaRPr lang="en-GB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386F6C-551B-429C-79E5-18CF304104D7}"/>
              </a:ext>
            </a:extLst>
          </p:cNvPr>
          <p:cNvSpPr txBox="1"/>
          <p:nvPr/>
        </p:nvSpPr>
        <p:spPr>
          <a:xfrm>
            <a:off x="2365108" y="3262640"/>
            <a:ext cx="732916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Client</a:t>
            </a:r>
            <a:endParaRPr lang="en-GB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4C0915-AFD3-30D1-08C2-CCF78959144C}"/>
              </a:ext>
            </a:extLst>
          </p:cNvPr>
          <p:cNvSpPr txBox="1"/>
          <p:nvPr/>
        </p:nvSpPr>
        <p:spPr>
          <a:xfrm>
            <a:off x="3899578" y="2765885"/>
            <a:ext cx="1112172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Server A</a:t>
            </a:r>
            <a:endParaRPr lang="en-GB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82FE6F-205B-873D-A662-9E65D7B37DD7}"/>
              </a:ext>
            </a:extLst>
          </p:cNvPr>
          <p:cNvSpPr txBox="1"/>
          <p:nvPr/>
        </p:nvSpPr>
        <p:spPr>
          <a:xfrm>
            <a:off x="3899578" y="3358034"/>
            <a:ext cx="1112172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Server B</a:t>
            </a:r>
            <a:endParaRPr lang="en-GB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20FA17-212F-065F-F02D-F6BE63AAB1CC}"/>
              </a:ext>
            </a:extLst>
          </p:cNvPr>
          <p:cNvSpPr txBox="1"/>
          <p:nvPr/>
        </p:nvSpPr>
        <p:spPr>
          <a:xfrm>
            <a:off x="3899578" y="3950183"/>
            <a:ext cx="1112172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Server C</a:t>
            </a:r>
            <a:endParaRPr lang="en-GB" b="1" dirty="0"/>
          </a:p>
        </p:txBody>
      </p:sp>
      <p:sp>
        <p:nvSpPr>
          <p:cNvPr id="9" name="Cylinder 8">
            <a:extLst>
              <a:ext uri="{FF2B5EF4-FFF2-40B4-BE49-F238E27FC236}">
                <a16:creationId xmlns:a16="http://schemas.microsoft.com/office/drawing/2014/main" id="{90C18386-C139-B56F-82E6-C38AB5979343}"/>
              </a:ext>
            </a:extLst>
          </p:cNvPr>
          <p:cNvSpPr/>
          <p:nvPr/>
        </p:nvSpPr>
        <p:spPr>
          <a:xfrm>
            <a:off x="5483490" y="2243053"/>
            <a:ext cx="1340773" cy="930027"/>
          </a:xfrm>
          <a:prstGeom prst="can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Local Data Source A</a:t>
            </a:r>
            <a:endParaRPr lang="en-GB" dirty="0"/>
          </a:p>
        </p:txBody>
      </p:sp>
      <p:sp>
        <p:nvSpPr>
          <p:cNvPr id="10" name="Cylinder 9">
            <a:extLst>
              <a:ext uri="{FF2B5EF4-FFF2-40B4-BE49-F238E27FC236}">
                <a16:creationId xmlns:a16="http://schemas.microsoft.com/office/drawing/2014/main" id="{D7171984-341D-D647-910F-73B9A765353F}"/>
              </a:ext>
            </a:extLst>
          </p:cNvPr>
          <p:cNvSpPr/>
          <p:nvPr/>
        </p:nvSpPr>
        <p:spPr>
          <a:xfrm>
            <a:off x="5483489" y="3262352"/>
            <a:ext cx="1340773" cy="930027"/>
          </a:xfrm>
          <a:prstGeom prst="can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Local Data Source B</a:t>
            </a:r>
            <a:endParaRPr lang="en-GB" dirty="0"/>
          </a:p>
        </p:txBody>
      </p:sp>
      <p:sp>
        <p:nvSpPr>
          <p:cNvPr id="11" name="Cylinder 10">
            <a:extLst>
              <a:ext uri="{FF2B5EF4-FFF2-40B4-BE49-F238E27FC236}">
                <a16:creationId xmlns:a16="http://schemas.microsoft.com/office/drawing/2014/main" id="{FCB6E4D4-8D0D-4043-A634-EDCACDB09CE8}"/>
              </a:ext>
            </a:extLst>
          </p:cNvPr>
          <p:cNvSpPr/>
          <p:nvPr/>
        </p:nvSpPr>
        <p:spPr>
          <a:xfrm>
            <a:off x="3899578" y="5135191"/>
            <a:ext cx="1340773" cy="930027"/>
          </a:xfrm>
          <a:prstGeom prst="can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Remote Service C</a:t>
            </a:r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708351-85C1-4845-733B-0944A2187709}"/>
              </a:ext>
            </a:extLst>
          </p:cNvPr>
          <p:cNvSpPr txBox="1"/>
          <p:nvPr/>
        </p:nvSpPr>
        <p:spPr>
          <a:xfrm>
            <a:off x="230345" y="2163846"/>
            <a:ext cx="7301240" cy="2308324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Our computer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9CEE5C4-60F6-EF96-5817-6C3DB99E596D}"/>
              </a:ext>
            </a:extLst>
          </p:cNvPr>
          <p:cNvCxnSpPr/>
          <p:nvPr/>
        </p:nvCxnSpPr>
        <p:spPr>
          <a:xfrm>
            <a:off x="1982363" y="3448195"/>
            <a:ext cx="382745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7A619D0-8454-11AB-0144-0B7D5069C3ED}"/>
              </a:ext>
            </a:extLst>
          </p:cNvPr>
          <p:cNvCxnSpPr>
            <a:cxnSpLocks/>
          </p:cNvCxnSpPr>
          <p:nvPr/>
        </p:nvCxnSpPr>
        <p:spPr>
          <a:xfrm flipV="1">
            <a:off x="3098024" y="2938644"/>
            <a:ext cx="801554" cy="397286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1405446-3A0A-F655-8420-D7C3EB0ECACC}"/>
              </a:ext>
            </a:extLst>
          </p:cNvPr>
          <p:cNvCxnSpPr>
            <a:cxnSpLocks/>
          </p:cNvCxnSpPr>
          <p:nvPr/>
        </p:nvCxnSpPr>
        <p:spPr>
          <a:xfrm>
            <a:off x="3079411" y="3477265"/>
            <a:ext cx="869608" cy="80121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6DDC1A7-1838-49A4-2F50-4BFADF0CF4A9}"/>
              </a:ext>
            </a:extLst>
          </p:cNvPr>
          <p:cNvCxnSpPr>
            <a:cxnSpLocks/>
          </p:cNvCxnSpPr>
          <p:nvPr/>
        </p:nvCxnSpPr>
        <p:spPr>
          <a:xfrm>
            <a:off x="3074757" y="3631972"/>
            <a:ext cx="874262" cy="560407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7B8CA11-D53D-9B02-92A1-122F90A0DD60}"/>
              </a:ext>
            </a:extLst>
          </p:cNvPr>
          <p:cNvCxnSpPr>
            <a:cxnSpLocks/>
          </p:cNvCxnSpPr>
          <p:nvPr/>
        </p:nvCxnSpPr>
        <p:spPr>
          <a:xfrm flipV="1">
            <a:off x="4988483" y="2765885"/>
            <a:ext cx="553758" cy="176357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38CEF14-497A-2E34-93B9-EADE660E3681}"/>
              </a:ext>
            </a:extLst>
          </p:cNvPr>
          <p:cNvCxnSpPr>
            <a:cxnSpLocks/>
          </p:cNvCxnSpPr>
          <p:nvPr/>
        </p:nvCxnSpPr>
        <p:spPr>
          <a:xfrm>
            <a:off x="4988483" y="3600626"/>
            <a:ext cx="495006" cy="148844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AC8D57D-D0F9-A02F-5960-491EA9C774CE}"/>
              </a:ext>
            </a:extLst>
          </p:cNvPr>
          <p:cNvCxnSpPr>
            <a:cxnSpLocks/>
          </p:cNvCxnSpPr>
          <p:nvPr/>
        </p:nvCxnSpPr>
        <p:spPr>
          <a:xfrm>
            <a:off x="4427890" y="4319515"/>
            <a:ext cx="0" cy="811039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D0B8BD9-C8C4-AFF8-6AB1-3B3B3015E8AD}"/>
              </a:ext>
            </a:extLst>
          </p:cNvPr>
          <p:cNvSpPr txBox="1"/>
          <p:nvPr/>
        </p:nvSpPr>
        <p:spPr>
          <a:xfrm>
            <a:off x="3295795" y="4711328"/>
            <a:ext cx="1207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Internet</a:t>
            </a:r>
            <a:endParaRPr lang="en-GB" dirty="0"/>
          </a:p>
        </p:txBody>
      </p:sp>
      <p:graphicFrame>
        <p:nvGraphicFramePr>
          <p:cNvPr id="29" name="Content Placeholder 3">
            <a:extLst>
              <a:ext uri="{FF2B5EF4-FFF2-40B4-BE49-F238E27FC236}">
                <a16:creationId xmlns:a16="http://schemas.microsoft.com/office/drawing/2014/main" id="{9407FD90-3F74-84BD-4AE4-E9BD1230F91F}"/>
              </a:ext>
            </a:extLst>
          </p:cNvPr>
          <p:cNvGraphicFramePr>
            <a:graphicFrameLocks/>
          </p:cNvGraphicFramePr>
          <p:nvPr/>
        </p:nvGraphicFramePr>
        <p:xfrm>
          <a:off x="7866050" y="1486779"/>
          <a:ext cx="3921684" cy="51816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484448">
                  <a:extLst>
                    <a:ext uri="{9D8B030D-6E8A-4147-A177-3AD203B41FA5}">
                      <a16:colId xmlns:a16="http://schemas.microsoft.com/office/drawing/2014/main" val="59571921"/>
                    </a:ext>
                  </a:extLst>
                </a:gridCol>
                <a:gridCol w="2437236">
                  <a:extLst>
                    <a:ext uri="{9D8B030D-6E8A-4147-A177-3AD203B41FA5}">
                      <a16:colId xmlns:a16="http://schemas.microsoft.com/office/drawing/2014/main" val="565566842"/>
                    </a:ext>
                  </a:extLst>
                </a:gridCol>
              </a:tblGrid>
              <a:tr h="285283">
                <a:tc>
                  <a:txBody>
                    <a:bodyPr/>
                    <a:lstStyle/>
                    <a:p>
                      <a:r>
                        <a:rPr lang="en-IN" sz="1600" dirty="0"/>
                        <a:t>Component</a:t>
                      </a:r>
                      <a:endParaRPr lang="en-GB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Meaning</a:t>
                      </a:r>
                      <a:endParaRPr lang="en-GB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6103123"/>
                  </a:ext>
                </a:extLst>
              </a:tr>
              <a:tr h="713208">
                <a:tc>
                  <a:txBody>
                    <a:bodyPr/>
                    <a:lstStyle/>
                    <a:p>
                      <a:r>
                        <a:rPr lang="en-IN" sz="1600" b="1" dirty="0"/>
                        <a:t>MCP Host</a:t>
                      </a:r>
                      <a:endParaRPr lang="en-GB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Program such as Claude Desktops, IDEs, AI tools that wants to access data through MCP</a:t>
                      </a:r>
                      <a:endParaRPr lang="en-GB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1719826"/>
                  </a:ext>
                </a:extLst>
              </a:tr>
              <a:tr h="499246">
                <a:tc>
                  <a:txBody>
                    <a:bodyPr/>
                    <a:lstStyle/>
                    <a:p>
                      <a:r>
                        <a:rPr lang="en-IN" sz="1600" b="1" dirty="0"/>
                        <a:t>MCP Client</a:t>
                      </a:r>
                      <a:endParaRPr lang="en-GB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Maintains a 1:1 connection with a server</a:t>
                      </a:r>
                      <a:endParaRPr lang="en-GB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2055082"/>
                  </a:ext>
                </a:extLst>
              </a:tr>
              <a:tr h="713208">
                <a:tc>
                  <a:txBody>
                    <a:bodyPr/>
                    <a:lstStyle/>
                    <a:p>
                      <a:r>
                        <a:rPr lang="en-IN" sz="1600" b="1" dirty="0"/>
                        <a:t>MCP server</a:t>
                      </a:r>
                      <a:endParaRPr lang="en-GB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Lightweight program that exposes specific capabilities through the standard MCP</a:t>
                      </a:r>
                      <a:endParaRPr lang="en-GB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7443538"/>
                  </a:ext>
                </a:extLst>
              </a:tr>
              <a:tr h="713208">
                <a:tc>
                  <a:txBody>
                    <a:bodyPr/>
                    <a:lstStyle/>
                    <a:p>
                      <a:r>
                        <a:rPr lang="en-IN" sz="1600" b="1" dirty="0"/>
                        <a:t>Local Data Source</a:t>
                      </a:r>
                      <a:endParaRPr lang="en-GB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Our computer’s files, databases, services that MCP servers can securely access</a:t>
                      </a:r>
                      <a:endParaRPr lang="en-GB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7620691"/>
                  </a:ext>
                </a:extLst>
              </a:tr>
              <a:tr h="713208">
                <a:tc>
                  <a:txBody>
                    <a:bodyPr/>
                    <a:lstStyle/>
                    <a:p>
                      <a:r>
                        <a:rPr lang="en-IN" sz="1600" b="1" dirty="0"/>
                        <a:t>Remote Service</a:t>
                      </a:r>
                      <a:endParaRPr lang="en-GB" sz="16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External systems available over the Internet (e.g. through APIs) that MCP servers can connect to</a:t>
                      </a:r>
                      <a:endParaRPr lang="en-GB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1527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2667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BEEDD-ED10-3225-CE2B-CCC39FC70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MCP Server Types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544A128-5C0E-49F7-448A-0787D98DEFE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4252" y="1817404"/>
          <a:ext cx="11084484" cy="4591504"/>
        </p:xfrm>
        <a:graphic>
          <a:graphicData uri="http://schemas.openxmlformats.org/drawingml/2006/table">
            <a:tbl>
              <a:tblPr/>
              <a:tblGrid>
                <a:gridCol w="1779940">
                  <a:extLst>
                    <a:ext uri="{9D8B030D-6E8A-4147-A177-3AD203B41FA5}">
                      <a16:colId xmlns:a16="http://schemas.microsoft.com/office/drawing/2014/main" val="3863644623"/>
                    </a:ext>
                  </a:extLst>
                </a:gridCol>
                <a:gridCol w="3294632">
                  <a:extLst>
                    <a:ext uri="{9D8B030D-6E8A-4147-A177-3AD203B41FA5}">
                      <a16:colId xmlns:a16="http://schemas.microsoft.com/office/drawing/2014/main" val="3091412058"/>
                    </a:ext>
                  </a:extLst>
                </a:gridCol>
                <a:gridCol w="2903744">
                  <a:extLst>
                    <a:ext uri="{9D8B030D-6E8A-4147-A177-3AD203B41FA5}">
                      <a16:colId xmlns:a16="http://schemas.microsoft.com/office/drawing/2014/main" val="2459005920"/>
                    </a:ext>
                  </a:extLst>
                </a:gridCol>
                <a:gridCol w="3106168">
                  <a:extLst>
                    <a:ext uri="{9D8B030D-6E8A-4147-A177-3AD203B41FA5}">
                      <a16:colId xmlns:a16="http://schemas.microsoft.com/office/drawing/2014/main" val="1203149155"/>
                    </a:ext>
                  </a:extLst>
                </a:gridCol>
              </a:tblGrid>
              <a:tr h="3541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Category</a:t>
                      </a:r>
                      <a:endParaRPr lang="en-GB" sz="1800"/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Examples</a:t>
                      </a:r>
                      <a:endParaRPr lang="en-GB" sz="1800"/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Purpose / Access Type</a:t>
                      </a:r>
                      <a:endParaRPr lang="en-GB" sz="1800"/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Typical Use Case in Agentic Systems</a:t>
                      </a:r>
                      <a:endParaRPr lang="en-US" sz="1800"/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32400"/>
                  </a:ext>
                </a:extLst>
              </a:tr>
              <a:tr h="8095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Local Servers</a:t>
                      </a:r>
                      <a:endParaRPr lang="en-GB" sz="1800" dirty="0"/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File System MCP Server, Database MCP Servers (SQLite, PostgreSQL, MySQL), Local Git Repositories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Access </a:t>
                      </a:r>
                      <a:r>
                        <a:rPr lang="en-US" sz="1800" b="1"/>
                        <a:t>local resources</a:t>
                      </a:r>
                      <a:r>
                        <a:rPr lang="en-US" sz="1800"/>
                        <a:t> on the same machine or intranet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Agents can read/write local files, query a local DB, or manage code versions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0994624"/>
                  </a:ext>
                </a:extLst>
              </a:tr>
              <a:tr h="8095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Remote Servers</a:t>
                      </a:r>
                      <a:endParaRPr lang="en-GB" sz="1800" dirty="0"/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Weather APIs, Stock Market Data APIs, CRM Systems (Salesforce, HubSpot), Knowledge Base APIs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Fetch or update </a:t>
                      </a:r>
                      <a:r>
                        <a:rPr lang="en-US" sz="1800" b="1"/>
                        <a:t>remote, real-time data</a:t>
                      </a:r>
                      <a:r>
                        <a:rPr lang="en-US" sz="1800"/>
                        <a:t> from web services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Intelligent assistants retrieve live info (e.g., stock prices, weather, CRM updates)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840906"/>
                  </a:ext>
                </a:extLst>
              </a:tr>
              <a:tr h="1720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Popular MCP Servers </a:t>
                      </a:r>
                    </a:p>
                    <a:p>
                      <a:pPr>
                        <a:buNone/>
                      </a:pPr>
                      <a:r>
                        <a:rPr lang="en-US" sz="1800" b="1" dirty="0"/>
                        <a:t>(Ready-made integrations)</a:t>
                      </a:r>
                      <a:endParaRPr lang="en-US" sz="1800" dirty="0"/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GitHub MCP Server</a:t>
                      </a:r>
                      <a:r>
                        <a:rPr lang="en-GB" sz="1800" dirty="0"/>
                        <a:t> – Manage repos, issues, pull requests</a:t>
                      </a:r>
                    </a:p>
                    <a:p>
                      <a:pPr>
                        <a:buNone/>
                      </a:pPr>
                      <a:r>
                        <a:rPr lang="en-GB" sz="1800" b="1" dirty="0"/>
                        <a:t>Slack MCP Server</a:t>
                      </a:r>
                      <a:r>
                        <a:rPr lang="en-GB" sz="1800" dirty="0"/>
                        <a:t> – Read/send messages, automate alerts </a:t>
                      </a:r>
                      <a:r>
                        <a:rPr lang="en-GB" sz="1800" b="1" dirty="0"/>
                        <a:t>Database MCP Servers</a:t>
                      </a:r>
                      <a:r>
                        <a:rPr lang="en-GB" sz="1800" dirty="0"/>
                        <a:t> – Connect securely to SQL databases</a:t>
                      </a:r>
                    </a:p>
                    <a:p>
                      <a:pPr>
                        <a:buNone/>
                      </a:pPr>
                      <a:r>
                        <a:rPr lang="en-GB" sz="1800" b="1" dirty="0"/>
                        <a:t>File System MCP Server</a:t>
                      </a:r>
                      <a:r>
                        <a:rPr lang="en-GB" sz="1800" dirty="0"/>
                        <a:t> – Read/write local or shared files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Provide </a:t>
                      </a:r>
                      <a:r>
                        <a:rPr lang="en-US" sz="1800" b="1"/>
                        <a:t>plug-and-play connectivity</a:t>
                      </a:r>
                      <a:r>
                        <a:rPr lang="en-US" sz="1800"/>
                        <a:t> for commonly used developer tools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Automate DevOps tasks, code review, alerts, or business data retrieval</a:t>
                      </a:r>
                    </a:p>
                  </a:txBody>
                  <a:tcPr marL="50597" marR="50597" marT="25298" marB="252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15863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2125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1E1EA-BCCE-D6B6-0AFA-C5A6E222A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Building Our Own MCP Server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96AA0EB-D004-E2E4-1381-10BDC7F8753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19538" y="1392856"/>
          <a:ext cx="10515600" cy="5328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23076">
                  <a:extLst>
                    <a:ext uri="{9D8B030D-6E8A-4147-A177-3AD203B41FA5}">
                      <a16:colId xmlns:a16="http://schemas.microsoft.com/office/drawing/2014/main" val="4010155973"/>
                    </a:ext>
                  </a:extLst>
                </a:gridCol>
                <a:gridCol w="9692524">
                  <a:extLst>
                    <a:ext uri="{9D8B030D-6E8A-4147-A177-3AD203B41FA5}">
                      <a16:colId xmlns:a16="http://schemas.microsoft.com/office/drawing/2014/main" val="28080306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400" dirty="0"/>
                        <a:t>Step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Installation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107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pip    install    </a:t>
                      </a:r>
                      <a:r>
                        <a:rPr lang="en-IN" sz="1400" b="1" dirty="0" err="1"/>
                        <a:t>mcp</a:t>
                      </a:r>
                      <a:endParaRPr lang="en-GB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6607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Create MCP server file (6_0_mcp_database_server.py)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8950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/>
                        <a:t>3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Download and install Claude Desktop</a:t>
                      </a:r>
                      <a:endParaRPr lang="en-GB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1925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/>
                        <a:t>4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FF0000"/>
                          </a:solidFill>
                        </a:rPr>
                        <a:t>Optional</a:t>
                      </a:r>
                      <a:r>
                        <a:rPr lang="en-IN" sz="1400" dirty="0"/>
                        <a:t>: Back to MCP server – Run it: </a:t>
                      </a:r>
                      <a:r>
                        <a:rPr lang="en-IN" sz="1400" b="1" dirty="0"/>
                        <a:t>python 6_0_mcp_database_server.py</a:t>
                      </a:r>
                      <a:r>
                        <a:rPr lang="en-IN" sz="1400" b="0" dirty="0"/>
                        <a:t> – Nothing will happen, server will just wait for connections</a:t>
                      </a:r>
                      <a:endParaRPr lang="en-GB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9721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/>
                        <a:t>5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dirty="0"/>
                        <a:t>Claude Desktop -&gt; Three lines at top left -&gt; File -&gt; Settings -&gt; Developer -&gt; Edit Config -&gt; Edit </a:t>
                      </a:r>
                      <a:r>
                        <a:rPr lang="en-IN" sz="1400" b="0" dirty="0" err="1"/>
                        <a:t>claude_desktop_config.json</a:t>
                      </a:r>
                      <a:r>
                        <a:rPr lang="en-IN" sz="1400" b="0" dirty="0"/>
                        <a:t> file -&gt; Add the following (Change code path if necessary):</a:t>
                      </a:r>
                      <a:br>
                        <a:rPr lang="en-IN" sz="1400" b="0" dirty="0"/>
                      </a:br>
                      <a:r>
                        <a:rPr lang="en-IN" sz="1400" b="1" dirty="0"/>
                        <a:t>{</a:t>
                      </a:r>
                    </a:p>
                    <a:p>
                      <a:r>
                        <a:rPr lang="en-IN" sz="1400" b="1" dirty="0"/>
                        <a:t>  "</a:t>
                      </a:r>
                      <a:r>
                        <a:rPr lang="en-IN" sz="1400" b="1" dirty="0" err="1"/>
                        <a:t>mcpServers</a:t>
                      </a:r>
                      <a:r>
                        <a:rPr lang="en-IN" sz="1400" b="1" dirty="0"/>
                        <a:t>": {</a:t>
                      </a:r>
                    </a:p>
                    <a:p>
                      <a:r>
                        <a:rPr lang="en-IN" sz="1400" b="1" dirty="0"/>
                        <a:t>    "</a:t>
                      </a:r>
                      <a:r>
                        <a:rPr lang="en-IN" sz="1400" b="1" dirty="0" err="1"/>
                        <a:t>sqlite</a:t>
                      </a:r>
                      <a:r>
                        <a:rPr lang="en-IN" sz="1400" b="1" dirty="0"/>
                        <a:t>-database": {</a:t>
                      </a:r>
                    </a:p>
                    <a:p>
                      <a:r>
                        <a:rPr lang="en-IN" sz="1400" b="1" dirty="0"/>
                        <a:t>      "command": "python",</a:t>
                      </a:r>
                    </a:p>
                    <a:p>
                      <a:r>
                        <a:rPr lang="en-IN" sz="1400" b="1" dirty="0"/>
                        <a:t>      "</a:t>
                      </a:r>
                      <a:r>
                        <a:rPr lang="en-IN" sz="1400" b="1" dirty="0" err="1"/>
                        <a:t>args</a:t>
                      </a:r>
                      <a:r>
                        <a:rPr lang="en-IN" sz="1400" b="1" dirty="0"/>
                        <a:t>": ["C:\\path\\to\\our\\database_server.py"]</a:t>
                      </a:r>
                    </a:p>
                    <a:p>
                      <a:r>
                        <a:rPr lang="en-IN" sz="1400" b="1" dirty="0"/>
                        <a:t>    }</a:t>
                      </a:r>
                    </a:p>
                    <a:p>
                      <a:r>
                        <a:rPr lang="en-IN" sz="1400" b="1" dirty="0"/>
                        <a:t>  }</a:t>
                      </a:r>
                    </a:p>
                    <a:p>
                      <a:r>
                        <a:rPr lang="en-IN" sz="1400" b="1" dirty="0"/>
                        <a:t>}</a:t>
                      </a:r>
                      <a:endParaRPr lang="en-GB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8228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/>
                        <a:t>6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dirty="0"/>
                        <a:t>Restart Claude Desktop – Now the MCP server should be available</a:t>
                      </a:r>
                      <a:endParaRPr lang="en-GB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557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dirty="0"/>
                        <a:t>7</a:t>
                      </a:r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dirty="0"/>
                        <a:t>Try in Claude Desktop:</a:t>
                      </a:r>
                      <a:br>
                        <a:rPr lang="en-IN" sz="1400" b="0" dirty="0"/>
                      </a:br>
                      <a:r>
                        <a:rPr lang="en-IN" sz="1400" b="0" dirty="0"/>
                        <a:t>Add a user Albert Einstein with email id </a:t>
                      </a:r>
                      <a:r>
                        <a:rPr lang="en-IN" sz="1400" b="0" dirty="0">
                          <a:hlinkClick r:id="rId2"/>
                        </a:rPr>
                        <a:t>ae@gmail.com</a:t>
                      </a:r>
                      <a:br>
                        <a:rPr lang="en-IN" sz="1400" b="0" dirty="0"/>
                      </a:br>
                      <a:r>
                        <a:rPr lang="en-IN" sz="1400" b="0" dirty="0"/>
                        <a:t>List all users in the database</a:t>
                      </a:r>
                      <a:endParaRPr lang="en-GB" sz="1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17143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4688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98F94-60DC-2321-FC2B-0BE3FCA0E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70094"/>
          </a:xfrm>
        </p:spPr>
        <p:txBody>
          <a:bodyPr>
            <a:normAutofit fontScale="90000"/>
          </a:bodyPr>
          <a:lstStyle/>
          <a:p>
            <a:r>
              <a:rPr lang="en-IN" dirty="0"/>
              <a:t>How it Works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9B4E903-98BB-C559-1834-E9FBB9BF5A7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3560" y="590139"/>
          <a:ext cx="10944879" cy="5874242"/>
        </p:xfrm>
        <a:graphic>
          <a:graphicData uri="http://schemas.openxmlformats.org/drawingml/2006/table">
            <a:tbl>
              <a:tblPr/>
              <a:tblGrid>
                <a:gridCol w="1931176">
                  <a:extLst>
                    <a:ext uri="{9D8B030D-6E8A-4147-A177-3AD203B41FA5}">
                      <a16:colId xmlns:a16="http://schemas.microsoft.com/office/drawing/2014/main" val="2499555948"/>
                    </a:ext>
                  </a:extLst>
                </a:gridCol>
                <a:gridCol w="3520323">
                  <a:extLst>
                    <a:ext uri="{9D8B030D-6E8A-4147-A177-3AD203B41FA5}">
                      <a16:colId xmlns:a16="http://schemas.microsoft.com/office/drawing/2014/main" val="2214176891"/>
                    </a:ext>
                  </a:extLst>
                </a:gridCol>
                <a:gridCol w="5493380">
                  <a:extLst>
                    <a:ext uri="{9D8B030D-6E8A-4147-A177-3AD203B41FA5}">
                      <a16:colId xmlns:a16="http://schemas.microsoft.com/office/drawing/2014/main" val="1810992767"/>
                    </a:ext>
                  </a:extLst>
                </a:gridCol>
              </a:tblGrid>
              <a:tr h="1289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Step</a:t>
                      </a:r>
                      <a:endParaRPr lang="en-GB" sz="1400" dirty="0"/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What Happens</a:t>
                      </a:r>
                      <a:endParaRPr lang="en-GB" sz="1400"/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Simple Explanation</a:t>
                      </a:r>
                      <a:endParaRPr lang="en-GB" sz="1400" dirty="0"/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7999489"/>
                  </a:ext>
                </a:extLst>
              </a:tr>
              <a:tr h="322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1. Server Starts</a:t>
                      </a:r>
                      <a:endParaRPr lang="en-GB" sz="1400"/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latin typeface="Courier New" panose="02070309020205020404" pitchFamily="49" charset="0"/>
                        </a:rPr>
                        <a:t>python database_server.py</a:t>
                      </a:r>
                      <a:r>
                        <a:rPr lang="en-GB" sz="1400"/>
                        <a:t> runs</a:t>
                      </a:r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our Python script launches and creates an MCP server named </a:t>
                      </a:r>
                      <a:r>
                        <a:rPr lang="en-US" sz="1400" b="1" dirty="0"/>
                        <a:t>“</a:t>
                      </a:r>
                      <a:r>
                        <a:rPr lang="en-US" sz="1400" b="1" dirty="0" err="1"/>
                        <a:t>sqlite</a:t>
                      </a:r>
                      <a:r>
                        <a:rPr lang="en-US" sz="1400" b="1" dirty="0"/>
                        <a:t>-database.”</a:t>
                      </a:r>
                      <a:endParaRPr lang="en-US" sz="1400" dirty="0"/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11085"/>
                  </a:ext>
                </a:extLst>
              </a:tr>
              <a:tr h="322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2. Database Setup</a:t>
                      </a:r>
                      <a:endParaRPr lang="en-GB" sz="1400"/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>
                          <a:latin typeface="Courier New" panose="02070309020205020404" pitchFamily="49" charset="0"/>
                        </a:rPr>
                        <a:t>init_database()</a:t>
                      </a:r>
                      <a:r>
                        <a:rPr lang="en-GB" sz="1400"/>
                        <a:t> is called</a:t>
                      </a:r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Creates a </a:t>
                      </a:r>
                      <a:r>
                        <a:rPr lang="en-US" sz="1400" b="1"/>
                        <a:t>SQLite file (</a:t>
                      </a:r>
                      <a:r>
                        <a:rPr lang="en-US" sz="1400" b="1">
                          <a:latin typeface="Courier New" panose="02070309020205020404" pitchFamily="49" charset="0"/>
                        </a:rPr>
                        <a:t>simple_db.sqlite</a:t>
                      </a:r>
                      <a:r>
                        <a:rPr lang="en-US" sz="1400" b="1"/>
                        <a:t>)</a:t>
                      </a:r>
                      <a:r>
                        <a:rPr lang="en-US" sz="1400"/>
                        <a:t> with a </a:t>
                      </a:r>
                      <a:r>
                        <a:rPr lang="en-US" sz="1400">
                          <a:latin typeface="Courier New" panose="02070309020205020404" pitchFamily="49" charset="0"/>
                        </a:rPr>
                        <a:t>users</a:t>
                      </a:r>
                      <a:r>
                        <a:rPr lang="en-US" sz="1400"/>
                        <a:t> table if it doesn’t exist.</a:t>
                      </a:r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313904"/>
                  </a:ext>
                </a:extLst>
              </a:tr>
              <a:tr h="322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3. Waiting for Connection</a:t>
                      </a:r>
                      <a:endParaRPr lang="en-GB" sz="1400"/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Server listens on </a:t>
                      </a:r>
                      <a:r>
                        <a:rPr lang="en-US" sz="1400" b="1"/>
                        <a:t>stdio</a:t>
                      </a:r>
                      <a:r>
                        <a:rPr lang="en-US" sz="1400"/>
                        <a:t> (standard input/output)</a:t>
                      </a:r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Like waiting by the phone — the server is ready to receive messages through its “inbox.”</a:t>
                      </a:r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415741"/>
                  </a:ext>
                </a:extLst>
              </a:tr>
              <a:tr h="322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4. Claude Desktop Connects</a:t>
                      </a:r>
                      <a:endParaRPr lang="en-GB" sz="1400"/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Claude reads config and spawns our Python process</a:t>
                      </a:r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Claude launches our server in the background and opens a </a:t>
                      </a:r>
                      <a:r>
                        <a:rPr lang="en-US" sz="1400" b="1" dirty="0"/>
                        <a:t>communication channel.</a:t>
                      </a:r>
                      <a:endParaRPr lang="en-US" sz="1400" dirty="0"/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6657940"/>
                  </a:ext>
                </a:extLst>
              </a:tr>
              <a:tr h="322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5. Handshake</a:t>
                      </a:r>
                      <a:endParaRPr lang="en-GB" sz="1400"/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MCP protocol initialization</a:t>
                      </a:r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Claude and our server introduce themselves — “Hi, I’m Claude” / “Hi, I’m </a:t>
                      </a:r>
                      <a:r>
                        <a:rPr lang="en-US" sz="1400" dirty="0" err="1"/>
                        <a:t>sqlite</a:t>
                      </a:r>
                      <a:r>
                        <a:rPr lang="en-US" sz="1400" dirty="0"/>
                        <a:t>-database server.”</a:t>
                      </a:r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7514373"/>
                  </a:ext>
                </a:extLst>
              </a:tr>
              <a:tr h="322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6. Tool Discovery</a:t>
                      </a:r>
                      <a:endParaRPr lang="en-GB" sz="1400"/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Claude calls </a:t>
                      </a:r>
                      <a:r>
                        <a:rPr lang="en-GB" sz="1400">
                          <a:latin typeface="Courier New" panose="02070309020205020404" pitchFamily="49" charset="0"/>
                        </a:rPr>
                        <a:t>list_tools()</a:t>
                      </a:r>
                      <a:endParaRPr lang="en-GB" sz="1400"/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Claude asks: </a:t>
                      </a:r>
                      <a:r>
                        <a:rPr lang="en-US" sz="1400" i="1" dirty="0"/>
                        <a:t>“What can you do?”</a:t>
                      </a:r>
                      <a:r>
                        <a:rPr lang="en-US" sz="1400" dirty="0"/>
                        <a:t> Server replies: </a:t>
                      </a:r>
                      <a:r>
                        <a:rPr lang="en-US" sz="1400" i="1" dirty="0"/>
                        <a:t>“I can </a:t>
                      </a:r>
                      <a:r>
                        <a:rPr lang="en-US" sz="1400" i="1" dirty="0" err="1"/>
                        <a:t>add_user</a:t>
                      </a:r>
                      <a:r>
                        <a:rPr lang="en-US" sz="1400" i="1" dirty="0"/>
                        <a:t> and </a:t>
                      </a:r>
                      <a:r>
                        <a:rPr lang="en-US" sz="1400" i="1" dirty="0" err="1"/>
                        <a:t>list_users</a:t>
                      </a:r>
                      <a:r>
                        <a:rPr lang="en-US" sz="1400" i="1" dirty="0"/>
                        <a:t>.”</a:t>
                      </a:r>
                      <a:endParaRPr lang="en-US" sz="1400" dirty="0"/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936584"/>
                  </a:ext>
                </a:extLst>
              </a:tr>
              <a:tr h="225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7. User Makes Request</a:t>
                      </a:r>
                      <a:endParaRPr lang="en-GB" sz="1400"/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We ask Claude to add a user</a:t>
                      </a:r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Example: We type in Claude’s chat interface.</a:t>
                      </a:r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8923989"/>
                  </a:ext>
                </a:extLst>
              </a:tr>
              <a:tr h="225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8. Claude Decides</a:t>
                      </a:r>
                      <a:endParaRPr lang="en-GB" sz="1400"/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Claude’s AI decides which tool to use</a:t>
                      </a:r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Claude thinks: </a:t>
                      </a:r>
                      <a:r>
                        <a:rPr lang="en-US" sz="1400" i="1"/>
                        <a:t>“To add a user, I should use the add_user tool.”</a:t>
                      </a:r>
                      <a:endParaRPr lang="en-US" sz="1400"/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7484573"/>
                  </a:ext>
                </a:extLst>
              </a:tr>
              <a:tr h="5157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9. Tool Call Sent</a:t>
                      </a:r>
                      <a:endParaRPr lang="en-GB" sz="1400"/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JSON message sent through </a:t>
                      </a:r>
                      <a:r>
                        <a:rPr lang="en-US" sz="1400" b="1"/>
                        <a:t>stdio pipe</a:t>
                      </a:r>
                      <a:endParaRPr lang="en-US" sz="1400"/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Claude sends: </a:t>
                      </a:r>
                      <a:r>
                        <a:rPr lang="en-US" sz="1400">
                          <a:latin typeface="Courier New" panose="02070309020205020404" pitchFamily="49" charset="0"/>
                        </a:rPr>
                        <a:t>{"tool": "add_user", "args": {"name": "John", "email": "john@example.com"}}</a:t>
                      </a:r>
                      <a:endParaRPr lang="en-US" sz="1400"/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372295"/>
                  </a:ext>
                </a:extLst>
              </a:tr>
              <a:tr h="322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10. Server Receives</a:t>
                      </a:r>
                      <a:endParaRPr lang="en-GB" sz="1400"/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Courier New" panose="02070309020205020404" pitchFamily="49" charset="0"/>
                        </a:rPr>
                        <a:t>call_tool()</a:t>
                      </a:r>
                      <a:r>
                        <a:rPr lang="en-US" sz="1400"/>
                        <a:t> function is triggered</a:t>
                      </a:r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our Python code receives the message and extracts the tool name and arguments.</a:t>
                      </a:r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7673367"/>
                  </a:ext>
                </a:extLst>
              </a:tr>
              <a:tr h="225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11. Database Operation</a:t>
                      </a:r>
                      <a:endParaRPr lang="en-GB" sz="1400"/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SQL </a:t>
                      </a:r>
                      <a:r>
                        <a:rPr lang="en-US" sz="1400">
                          <a:latin typeface="Courier New" panose="02070309020205020404" pitchFamily="49" charset="0"/>
                        </a:rPr>
                        <a:t>INSERT</a:t>
                      </a:r>
                      <a:r>
                        <a:rPr lang="en-US" sz="1400"/>
                        <a:t> or </a:t>
                      </a:r>
                      <a:r>
                        <a:rPr lang="en-US" sz="1400">
                          <a:latin typeface="Courier New" panose="02070309020205020404" pitchFamily="49" charset="0"/>
                        </a:rPr>
                        <a:t>SELECT</a:t>
                      </a:r>
                      <a:r>
                        <a:rPr lang="en-US" sz="1400"/>
                        <a:t> runs</a:t>
                      </a:r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our code opens the SQLite file, executes SQL, and closes it.</a:t>
                      </a:r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4439846"/>
                  </a:ext>
                </a:extLst>
              </a:tr>
              <a:tr h="225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12. Response Sent Back</a:t>
                      </a:r>
                      <a:endParaRPr lang="en-GB" sz="1400"/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Returns </a:t>
                      </a:r>
                      <a:r>
                        <a:rPr lang="en-GB" sz="1400">
                          <a:latin typeface="Courier New" panose="02070309020205020404" pitchFamily="49" charset="0"/>
                        </a:rPr>
                        <a:t>TextContent</a:t>
                      </a:r>
                      <a:r>
                        <a:rPr lang="en-GB" sz="1400"/>
                        <a:t> with results</a:t>
                      </a:r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Server responds: </a:t>
                      </a:r>
                      <a:r>
                        <a:rPr lang="en-US" sz="1400" i="1" dirty="0"/>
                        <a:t>“Added user: John (</a:t>
                      </a:r>
                      <a:r>
                        <a:rPr lang="en-US" sz="1400" i="1" dirty="0">
                          <a:hlinkClick r:id="rId2"/>
                        </a:rPr>
                        <a:t>john@example.com</a:t>
                      </a:r>
                      <a:r>
                        <a:rPr lang="en-US" sz="1400" i="1" dirty="0"/>
                        <a:t>).”</a:t>
                      </a:r>
                      <a:endParaRPr lang="en-US" sz="1400" dirty="0"/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5115911"/>
                  </a:ext>
                </a:extLst>
              </a:tr>
              <a:tr h="225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13. Claude Formats Response</a:t>
                      </a:r>
                      <a:endParaRPr lang="en-GB" sz="1400"/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Claude receives the result and shows it to us</a:t>
                      </a:r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Claude displays: </a:t>
                      </a:r>
                      <a:r>
                        <a:rPr lang="en-US" sz="1400" i="1"/>
                        <a:t>“I’ve added John to the database.”</a:t>
                      </a:r>
                      <a:endParaRPr lang="en-US" sz="1400"/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8045708"/>
                  </a:ext>
                </a:extLst>
              </a:tr>
              <a:tr h="322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14. Connection Stays Open</a:t>
                      </a:r>
                      <a:endParaRPr lang="en-GB" sz="1400"/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Server keeps running in background</a:t>
                      </a:r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The process stays alive for future requests — no need to restart each time.</a:t>
                      </a:r>
                    </a:p>
                  </a:txBody>
                  <a:tcPr marL="32232" marR="32232" marT="16116" marB="1611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66582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8859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57">
            <a:extLst>
              <a:ext uri="{FF2B5EF4-FFF2-40B4-BE49-F238E27FC236}">
                <a16:creationId xmlns:a16="http://schemas.microsoft.com/office/drawing/2014/main" id="{C925DB37-4AE3-0CF6-06DC-86D3E96B3A7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94635" y="87147"/>
            <a:ext cx="11997365" cy="6858000"/>
          </a:xfrm>
          <a:prstGeom prst="rect">
            <a:avLst/>
          </a:prstGeom>
          <a:solidFill>
            <a:schemeClr val="bg2"/>
          </a:solidFill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3603C27-46EB-F70C-BFF4-B852C47098C6}"/>
              </a:ext>
            </a:extLst>
          </p:cNvPr>
          <p:cNvCxnSpPr>
            <a:cxnSpLocks/>
          </p:cNvCxnSpPr>
          <p:nvPr/>
        </p:nvCxnSpPr>
        <p:spPr>
          <a:xfrm>
            <a:off x="621233" y="1933503"/>
            <a:ext cx="2785081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A8D349-9B90-5FDF-A960-2B8BC002DC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3490075" y="918124"/>
            <a:ext cx="609788" cy="60978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FF1C9E-2149-F249-7E8E-AFA9257361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10062584" y="712071"/>
            <a:ext cx="850918" cy="8509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240AA27-F1A4-E4DC-7A88-CB3F92127A9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440913" y="864893"/>
            <a:ext cx="369366" cy="73621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D3BAB00-18AD-54F9-5779-50E3E26BF08B}"/>
              </a:ext>
            </a:extLst>
          </p:cNvPr>
          <p:cNvSpPr txBox="1"/>
          <p:nvPr/>
        </p:nvSpPr>
        <p:spPr>
          <a:xfrm>
            <a:off x="921381" y="1648477"/>
            <a:ext cx="1919542" cy="60016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100" b="1" dirty="0"/>
              <a:t>Edit </a:t>
            </a:r>
            <a:r>
              <a:rPr lang="en-GB" sz="1100" b="1" dirty="0" err="1"/>
              <a:t>claude_desktop_config.json</a:t>
            </a:r>
            <a:r>
              <a:rPr lang="en-GB" sz="1100" b="1" dirty="0"/>
              <a:t> to add MCP server entry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38A927-6D91-3551-BC0D-13C618F95B35}"/>
              </a:ext>
            </a:extLst>
          </p:cNvPr>
          <p:cNvSpPr txBox="1"/>
          <p:nvPr/>
        </p:nvSpPr>
        <p:spPr>
          <a:xfrm>
            <a:off x="3517995" y="1795004"/>
            <a:ext cx="15077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Nothing happens yet</a:t>
            </a:r>
            <a:endParaRPr lang="en-GB" sz="12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23EA68D-C332-3144-23B7-DA0095C1180C}"/>
              </a:ext>
            </a:extLst>
          </p:cNvPr>
          <p:cNvCxnSpPr>
            <a:cxnSpLocks/>
          </p:cNvCxnSpPr>
          <p:nvPr/>
        </p:nvCxnSpPr>
        <p:spPr>
          <a:xfrm>
            <a:off x="621233" y="2450721"/>
            <a:ext cx="2785081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A2E6485-F31A-8047-63ED-F376BDBA2C01}"/>
              </a:ext>
            </a:extLst>
          </p:cNvPr>
          <p:cNvSpPr txBox="1"/>
          <p:nvPr/>
        </p:nvSpPr>
        <p:spPr>
          <a:xfrm>
            <a:off x="921381" y="2319259"/>
            <a:ext cx="1919542" cy="2616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 b="1"/>
            </a:lvl1pPr>
          </a:lstStyle>
          <a:p>
            <a:r>
              <a:rPr lang="en-IN" dirty="0"/>
              <a:t>Restart Claude Desktop</a:t>
            </a:r>
            <a:endParaRPr lang="en-GB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516152-441F-965F-00A2-82018EE27004}"/>
              </a:ext>
            </a:extLst>
          </p:cNvPr>
          <p:cNvSpPr txBox="1"/>
          <p:nvPr/>
        </p:nvSpPr>
        <p:spPr>
          <a:xfrm>
            <a:off x="3490075" y="2319260"/>
            <a:ext cx="53816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Claude reads the file and realizes there is a MCP server, but does not launch it yet</a:t>
            </a:r>
            <a:endParaRPr lang="en-GB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32DA98-DA68-27D3-0847-98091620C410}"/>
              </a:ext>
            </a:extLst>
          </p:cNvPr>
          <p:cNvSpPr txBox="1"/>
          <p:nvPr/>
        </p:nvSpPr>
        <p:spPr>
          <a:xfrm>
            <a:off x="8816648" y="212587"/>
            <a:ext cx="30654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solidFill>
                  <a:srgbClr val="FF0000"/>
                </a:solidFill>
              </a:rPr>
              <a:t>Our Local MCP Server</a:t>
            </a:r>
          </a:p>
          <a:p>
            <a:pPr algn="ctr"/>
            <a:r>
              <a:rPr lang="en-IN" sz="1400" b="1" dirty="0">
                <a:solidFill>
                  <a:srgbClr val="FF0000"/>
                </a:solidFill>
              </a:rPr>
              <a:t>database_server.py</a:t>
            </a:r>
            <a:endParaRPr lang="en-GB" sz="1400" b="1" dirty="0">
              <a:solidFill>
                <a:srgbClr val="FF0000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34F180D-1A5D-5183-CD59-8A89E45F5A21}"/>
              </a:ext>
            </a:extLst>
          </p:cNvPr>
          <p:cNvCxnSpPr>
            <a:cxnSpLocks/>
          </p:cNvCxnSpPr>
          <p:nvPr/>
        </p:nvCxnSpPr>
        <p:spPr>
          <a:xfrm>
            <a:off x="609504" y="2861386"/>
            <a:ext cx="2785081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59D6231-F40E-D66D-3504-63B27206D554}"/>
              </a:ext>
            </a:extLst>
          </p:cNvPr>
          <p:cNvSpPr txBox="1"/>
          <p:nvPr/>
        </p:nvSpPr>
        <p:spPr>
          <a:xfrm>
            <a:off x="3490075" y="2722887"/>
            <a:ext cx="34551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Claude spawns the MCP server as a child process</a:t>
            </a:r>
            <a:endParaRPr lang="en-GB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2D412C-D761-0611-ED4D-F9DE39F65E64}"/>
              </a:ext>
            </a:extLst>
          </p:cNvPr>
          <p:cNvSpPr txBox="1"/>
          <p:nvPr/>
        </p:nvSpPr>
        <p:spPr>
          <a:xfrm>
            <a:off x="9607112" y="2596259"/>
            <a:ext cx="1919542" cy="4308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100" b="1" dirty="0"/>
              <a:t>Spawn process</a:t>
            </a:r>
          </a:p>
          <a:p>
            <a:pPr algn="ctr"/>
            <a:r>
              <a:rPr lang="en-IN" sz="1100" b="1" dirty="0"/>
              <a:t>python database_server.py</a:t>
            </a:r>
            <a:endParaRPr lang="en-GB" sz="1100" b="1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3C652CD-718F-275D-8258-F0007B0E2A57}"/>
              </a:ext>
            </a:extLst>
          </p:cNvPr>
          <p:cNvCxnSpPr>
            <a:cxnSpLocks/>
          </p:cNvCxnSpPr>
          <p:nvPr/>
        </p:nvCxnSpPr>
        <p:spPr>
          <a:xfrm>
            <a:off x="6639193" y="2861386"/>
            <a:ext cx="2785081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D367273-48D4-DF0D-1911-69947789CB12}"/>
              </a:ext>
            </a:extLst>
          </p:cNvPr>
          <p:cNvSpPr txBox="1"/>
          <p:nvPr/>
        </p:nvSpPr>
        <p:spPr>
          <a:xfrm>
            <a:off x="9619907" y="3076726"/>
            <a:ext cx="1919542" cy="4308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100" b="1" dirty="0"/>
              <a:t>JSON-RPC </a:t>
            </a:r>
          </a:p>
          <a:p>
            <a:pPr algn="ctr"/>
            <a:r>
              <a:rPr lang="en-IN" sz="1100" b="1" dirty="0"/>
              <a:t>{“method”: “initialize”, …}</a:t>
            </a:r>
            <a:endParaRPr lang="en-GB" sz="1100" b="1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BFD792F-27A5-E07C-0842-0541B428A947}"/>
              </a:ext>
            </a:extLst>
          </p:cNvPr>
          <p:cNvCxnSpPr>
            <a:cxnSpLocks/>
          </p:cNvCxnSpPr>
          <p:nvPr/>
        </p:nvCxnSpPr>
        <p:spPr>
          <a:xfrm>
            <a:off x="6651988" y="3341853"/>
            <a:ext cx="2785081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2DBAF76-05B8-44EC-AA24-A205BCA4FC69}"/>
              </a:ext>
            </a:extLst>
          </p:cNvPr>
          <p:cNvSpPr txBox="1"/>
          <p:nvPr/>
        </p:nvSpPr>
        <p:spPr>
          <a:xfrm>
            <a:off x="3406314" y="3507613"/>
            <a:ext cx="1919542" cy="43088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100" b="1" dirty="0"/>
              <a:t>Response </a:t>
            </a:r>
          </a:p>
          <a:p>
            <a:pPr algn="ctr"/>
            <a:r>
              <a:rPr lang="en-IN" sz="1100" b="1" dirty="0"/>
              <a:t>{“result”:  {“</a:t>
            </a:r>
            <a:r>
              <a:rPr lang="en-IN" sz="1100" b="1" dirty="0" err="1"/>
              <a:t>server_info</a:t>
            </a:r>
            <a:r>
              <a:rPr lang="en-IN" sz="1100" b="1" dirty="0"/>
              <a:t>”: …}}</a:t>
            </a:r>
            <a:endParaRPr lang="en-GB" sz="1100" b="1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B7AFA58-7586-0643-DF4F-82947D869E40}"/>
              </a:ext>
            </a:extLst>
          </p:cNvPr>
          <p:cNvCxnSpPr>
            <a:cxnSpLocks/>
          </p:cNvCxnSpPr>
          <p:nvPr/>
        </p:nvCxnSpPr>
        <p:spPr>
          <a:xfrm flipH="1">
            <a:off x="5387562" y="3723056"/>
            <a:ext cx="31352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0393A69-5BD2-6F1B-EC4B-810B9F1079DC}"/>
              </a:ext>
            </a:extLst>
          </p:cNvPr>
          <p:cNvSpPr txBox="1"/>
          <p:nvPr/>
        </p:nvSpPr>
        <p:spPr>
          <a:xfrm>
            <a:off x="9623979" y="3863428"/>
            <a:ext cx="1919542" cy="4308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 b="1"/>
            </a:lvl1pPr>
          </a:lstStyle>
          <a:p>
            <a:r>
              <a:rPr lang="en-IN" dirty="0"/>
              <a:t>JSON-RPC </a:t>
            </a:r>
          </a:p>
          <a:p>
            <a:r>
              <a:rPr lang="en-IN" dirty="0"/>
              <a:t>{“method”: “tools/list”}</a:t>
            </a:r>
            <a:endParaRPr lang="en-GB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A74BD5F-2F8E-F8AE-B348-A70E40CB6F37}"/>
              </a:ext>
            </a:extLst>
          </p:cNvPr>
          <p:cNvCxnSpPr>
            <a:cxnSpLocks/>
          </p:cNvCxnSpPr>
          <p:nvPr/>
        </p:nvCxnSpPr>
        <p:spPr>
          <a:xfrm>
            <a:off x="6656060" y="4128555"/>
            <a:ext cx="2785081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>
            <a:extLst>
              <a:ext uri="{FF2B5EF4-FFF2-40B4-BE49-F238E27FC236}">
                <a16:creationId xmlns:a16="http://schemas.microsoft.com/office/drawing/2014/main" id="{B36A059D-CDD7-BFB4-B809-EBC53F9DA08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>
            <a:off x="11246809" y="4391795"/>
            <a:ext cx="585279" cy="585279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3EB44A6F-DF58-BD6E-057F-160B0D208EC5}"/>
              </a:ext>
            </a:extLst>
          </p:cNvPr>
          <p:cNvSpPr txBox="1"/>
          <p:nvPr/>
        </p:nvSpPr>
        <p:spPr>
          <a:xfrm>
            <a:off x="9144000" y="4447096"/>
            <a:ext cx="21028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@server.list_tools() executes</a:t>
            </a:r>
            <a:endParaRPr lang="en-GB" sz="1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A8DE93E-3A84-6016-C417-11462F9E97C3}"/>
              </a:ext>
            </a:extLst>
          </p:cNvPr>
          <p:cNvSpPr txBox="1"/>
          <p:nvPr/>
        </p:nvSpPr>
        <p:spPr>
          <a:xfrm>
            <a:off x="3406314" y="4761631"/>
            <a:ext cx="1919542" cy="43088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 b="1"/>
            </a:lvl1pPr>
          </a:lstStyle>
          <a:p>
            <a:r>
              <a:rPr lang="en-IN" dirty="0"/>
              <a:t>Response </a:t>
            </a:r>
          </a:p>
          <a:p>
            <a:r>
              <a:rPr lang="en-IN" dirty="0"/>
              <a:t>{“result”:  {“tools”: […]}}</a:t>
            </a:r>
            <a:endParaRPr lang="en-GB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C3B6F00-2AED-A3C5-0C66-97395D45DD8A}"/>
              </a:ext>
            </a:extLst>
          </p:cNvPr>
          <p:cNvCxnSpPr>
            <a:cxnSpLocks/>
          </p:cNvCxnSpPr>
          <p:nvPr/>
        </p:nvCxnSpPr>
        <p:spPr>
          <a:xfrm flipH="1">
            <a:off x="5387562" y="4977074"/>
            <a:ext cx="31352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80392822-954F-2A20-D264-DD759D5B5ADE}"/>
              </a:ext>
            </a:extLst>
          </p:cNvPr>
          <p:cNvSpPr txBox="1"/>
          <p:nvPr/>
        </p:nvSpPr>
        <p:spPr>
          <a:xfrm>
            <a:off x="9144000" y="5125101"/>
            <a:ext cx="2688087" cy="7694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 b="1"/>
            </a:lvl1pPr>
          </a:lstStyle>
          <a:p>
            <a:r>
              <a:rPr lang="en-IN" dirty="0"/>
              <a:t>JSON-RPC </a:t>
            </a:r>
          </a:p>
          <a:p>
            <a:r>
              <a:rPr lang="en-IN" dirty="0"/>
              <a:t>{“method”: “tools/call”,</a:t>
            </a:r>
          </a:p>
          <a:p>
            <a:r>
              <a:rPr lang="en-IN" dirty="0"/>
              <a:t>“params”: “{name”: “</a:t>
            </a:r>
            <a:r>
              <a:rPr lang="en-IN" dirty="0" err="1"/>
              <a:t>add_user</a:t>
            </a:r>
            <a:r>
              <a:rPr lang="en-IN" dirty="0"/>
              <a:t>”, “arguments”: {“name”: “Albert Einstein”}}}</a:t>
            </a:r>
            <a:endParaRPr lang="en-GB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F2D5DD3-1C08-FECF-58B2-C9D67277AC5A}"/>
              </a:ext>
            </a:extLst>
          </p:cNvPr>
          <p:cNvCxnSpPr>
            <a:cxnSpLocks/>
          </p:cNvCxnSpPr>
          <p:nvPr/>
        </p:nvCxnSpPr>
        <p:spPr>
          <a:xfrm>
            <a:off x="6700849" y="5397208"/>
            <a:ext cx="221978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Picture 44">
            <a:extLst>
              <a:ext uri="{FF2B5EF4-FFF2-40B4-BE49-F238E27FC236}">
                <a16:creationId xmlns:a16="http://schemas.microsoft.com/office/drawing/2014/main" id="{1486EEF7-37FE-7176-191D-EAE0253548F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>
            <a:off x="11247537" y="5968769"/>
            <a:ext cx="585279" cy="585279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3118230B-75BB-C06C-2250-05968AEB4746}"/>
              </a:ext>
            </a:extLst>
          </p:cNvPr>
          <p:cNvSpPr txBox="1"/>
          <p:nvPr/>
        </p:nvSpPr>
        <p:spPr>
          <a:xfrm>
            <a:off x="9739822" y="6024070"/>
            <a:ext cx="15077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@server.call_tool()</a:t>
            </a:r>
          </a:p>
          <a:p>
            <a:pPr algn="ctr"/>
            <a:r>
              <a:rPr lang="en-IN" sz="1200" dirty="0"/>
              <a:t>executes</a:t>
            </a:r>
            <a:endParaRPr lang="en-GB" sz="12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631BAD3-9296-E28E-AF6B-6D60EB0E40DE}"/>
              </a:ext>
            </a:extLst>
          </p:cNvPr>
          <p:cNvSpPr txBox="1"/>
          <p:nvPr/>
        </p:nvSpPr>
        <p:spPr>
          <a:xfrm>
            <a:off x="3406314" y="6270292"/>
            <a:ext cx="1919542" cy="43088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100" b="1"/>
            </a:lvl1pPr>
          </a:lstStyle>
          <a:p>
            <a:r>
              <a:rPr lang="en-IN" dirty="0"/>
              <a:t>Response </a:t>
            </a:r>
          </a:p>
          <a:p>
            <a:r>
              <a:rPr lang="en-IN" dirty="0"/>
              <a:t>{“result”:  {“content”: […]}}</a:t>
            </a:r>
            <a:endParaRPr lang="en-GB" dirty="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AADD8ED4-7385-7E0A-5680-2F3291409554}"/>
              </a:ext>
            </a:extLst>
          </p:cNvPr>
          <p:cNvCxnSpPr>
            <a:cxnSpLocks/>
          </p:cNvCxnSpPr>
          <p:nvPr/>
        </p:nvCxnSpPr>
        <p:spPr>
          <a:xfrm flipH="1">
            <a:off x="5387562" y="6485735"/>
            <a:ext cx="313520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BD8592B0-C933-1060-8004-8E75CD9D4174}"/>
              </a:ext>
            </a:extLst>
          </p:cNvPr>
          <p:cNvSpPr txBox="1"/>
          <p:nvPr/>
        </p:nvSpPr>
        <p:spPr>
          <a:xfrm>
            <a:off x="8637310" y="1592468"/>
            <a:ext cx="3424126" cy="92333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@server.call_tool()</a:t>
            </a:r>
          </a:p>
          <a:p>
            <a:r>
              <a:rPr lang="en-US" sz="9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async def </a:t>
            </a:r>
            <a:r>
              <a:rPr lang="en-US" sz="9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call_tool</a:t>
            </a:r>
            <a:r>
              <a:rPr lang="en-US" sz="9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(name: str, arguments: </a:t>
            </a:r>
            <a:r>
              <a:rPr lang="en-US" sz="9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dict</a:t>
            </a:r>
            <a:r>
              <a:rPr lang="en-US" sz="9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 -&gt; list[</a:t>
            </a:r>
            <a:r>
              <a:rPr lang="en-US" sz="9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TextContent</a:t>
            </a:r>
            <a:r>
              <a:rPr lang="en-US" sz="9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]:</a:t>
            </a:r>
          </a:p>
          <a:p>
            <a:r>
              <a:rPr lang="en-US" sz="9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    if name == "</a:t>
            </a:r>
            <a:r>
              <a:rPr lang="en-US" sz="9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add_user</a:t>
            </a:r>
            <a:r>
              <a:rPr lang="en-US" sz="9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":</a:t>
            </a:r>
          </a:p>
          <a:p>
            <a:r>
              <a:rPr lang="en-US" sz="9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        conn = sqlite3.connect('</a:t>
            </a:r>
            <a:r>
              <a:rPr lang="en-US" sz="9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simple_db.sqlite</a:t>
            </a:r>
            <a:r>
              <a:rPr lang="en-US" sz="9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’) …</a:t>
            </a:r>
            <a:endParaRPr lang="en-GB" sz="900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068FDC77-6F66-02F4-B721-55FCF9ABDA0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8836" y="2687015"/>
            <a:ext cx="2568695" cy="526269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B2CA58D3-9643-7306-A0F9-753D4FE56FF9}"/>
              </a:ext>
            </a:extLst>
          </p:cNvPr>
          <p:cNvSpPr txBox="1"/>
          <p:nvPr/>
        </p:nvSpPr>
        <p:spPr>
          <a:xfrm>
            <a:off x="5144372" y="6980"/>
            <a:ext cx="22196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solidFill>
                  <a:srgbClr val="FF0000"/>
                </a:solidFill>
              </a:rPr>
              <a:t>Our Windows PC: MCP Host</a:t>
            </a:r>
            <a:endParaRPr lang="en-GB" sz="1200" b="1" dirty="0">
              <a:solidFill>
                <a:srgbClr val="FF000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12F0452-0B4A-A832-74E9-E98018E533E7}"/>
              </a:ext>
            </a:extLst>
          </p:cNvPr>
          <p:cNvSpPr txBox="1"/>
          <p:nvPr/>
        </p:nvSpPr>
        <p:spPr>
          <a:xfrm>
            <a:off x="3394585" y="929817"/>
            <a:ext cx="37201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solidFill>
                  <a:srgbClr val="FF0000"/>
                </a:solidFill>
              </a:rPr>
              <a:t>Claude Desktop: MCP Client</a:t>
            </a:r>
            <a:endParaRPr lang="en-GB" sz="1400" b="1" dirty="0">
              <a:solidFill>
                <a:srgbClr val="FF0000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605714E-1837-A08A-33A5-58F40A1AAFB7}"/>
              </a:ext>
            </a:extLst>
          </p:cNvPr>
          <p:cNvSpPr txBox="1"/>
          <p:nvPr/>
        </p:nvSpPr>
        <p:spPr>
          <a:xfrm>
            <a:off x="817162" y="443363"/>
            <a:ext cx="84705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/>
              <a:t>What happens when we run a local MCP Database Server that allows adding users to a Table and use Claude to add a user</a:t>
            </a:r>
            <a:endParaRPr lang="en-GB" sz="1200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29B88AC-D9E2-2A4F-1E38-72278398DC1F}"/>
              </a:ext>
            </a:extLst>
          </p:cNvPr>
          <p:cNvSpPr txBox="1"/>
          <p:nvPr/>
        </p:nvSpPr>
        <p:spPr>
          <a:xfrm>
            <a:off x="1523999" y="6858000"/>
            <a:ext cx="91440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>
                <a:hlinkClick r:id="rId3" tooltip="https://courses.lumenlearning.com/wmopen-compapp/chapter/terminology/"/>
              </a:rPr>
              <a:t>This Photo</a:t>
            </a:r>
            <a:r>
              <a:rPr lang="en-GB" sz="900"/>
              <a:t> by Unknown Author is licensed under </a:t>
            </a:r>
            <a:r>
              <a:rPr lang="en-GB" sz="900">
                <a:hlinkClick r:id="rId13" tooltip="https://creativecommons.org/licenses/by/3.0/"/>
              </a:rPr>
              <a:t>CC BY</a:t>
            </a:r>
            <a:endParaRPr lang="en-GB" sz="900"/>
          </a:p>
        </p:txBody>
      </p:sp>
    </p:spTree>
    <p:extLst>
      <p:ext uri="{BB962C8B-B14F-4D97-AF65-F5344CB8AC3E}">
        <p14:creationId xmlns:p14="http://schemas.microsoft.com/office/powerpoint/2010/main" val="2402614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4C77D-0E24-782E-0C64-D9330A6C7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MCP Installation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C959F86-38E6-86F7-2DF1-4899678F95C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4995" y="1825624"/>
          <a:ext cx="10944879" cy="4569478"/>
        </p:xfrm>
        <a:graphic>
          <a:graphicData uri="http://schemas.openxmlformats.org/drawingml/2006/table">
            <a:tbl>
              <a:tblPr/>
              <a:tblGrid>
                <a:gridCol w="2240629">
                  <a:extLst>
                    <a:ext uri="{9D8B030D-6E8A-4147-A177-3AD203B41FA5}">
                      <a16:colId xmlns:a16="http://schemas.microsoft.com/office/drawing/2014/main" val="3280514799"/>
                    </a:ext>
                  </a:extLst>
                </a:gridCol>
                <a:gridCol w="3636660">
                  <a:extLst>
                    <a:ext uri="{9D8B030D-6E8A-4147-A177-3AD203B41FA5}">
                      <a16:colId xmlns:a16="http://schemas.microsoft.com/office/drawing/2014/main" val="2349803816"/>
                    </a:ext>
                  </a:extLst>
                </a:gridCol>
                <a:gridCol w="5067590">
                  <a:extLst>
                    <a:ext uri="{9D8B030D-6E8A-4147-A177-3AD203B41FA5}">
                      <a16:colId xmlns:a16="http://schemas.microsoft.com/office/drawing/2014/main" val="2599346725"/>
                    </a:ext>
                  </a:extLst>
                </a:gridCol>
              </a:tblGrid>
              <a:tr h="2719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Step</a:t>
                      </a:r>
                      <a:endParaRPr lang="en-GB" sz="1800" dirty="0"/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Action / Command</a:t>
                      </a:r>
                      <a:endParaRPr lang="en-GB" sz="1800"/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Purpose / Description</a:t>
                      </a:r>
                      <a:endParaRPr lang="en-GB" sz="1800"/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5116134"/>
                  </a:ext>
                </a:extLst>
              </a:tr>
              <a:tr h="883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1. Install MCP Package</a:t>
                      </a:r>
                      <a:endParaRPr lang="en-GB" sz="1800"/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>
                          <a:latin typeface="Courier New" panose="02070309020205020404" pitchFamily="49" charset="0"/>
                        </a:rPr>
                        <a:t>pip install mcp</a:t>
                      </a:r>
                      <a:endParaRPr lang="en-GB" sz="1800"/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Installs the </a:t>
                      </a:r>
                      <a:r>
                        <a:rPr lang="en-US" sz="1800" b="1" dirty="0"/>
                        <a:t>Model Context Protocol (MCP)</a:t>
                      </a:r>
                      <a:r>
                        <a:rPr lang="en-US" sz="1800" dirty="0"/>
                        <a:t> Python library, which allows our scripts to act as MCP servers or clients.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8446142"/>
                  </a:ext>
                </a:extLst>
              </a:tr>
              <a:tr h="6798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2. Verify Installation</a:t>
                      </a:r>
                      <a:endParaRPr lang="en-GB" sz="1800"/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>
                          <a:latin typeface="Courier New" panose="02070309020205020404" pitchFamily="49" charset="0"/>
                        </a:rPr>
                        <a:t>pip show mcp</a:t>
                      </a:r>
                      <a:endParaRPr lang="en-GB" sz="1800"/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Confirms that MCP is correctly installed and accessible in our Python environment.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817957"/>
                  </a:ext>
                </a:extLst>
              </a:tr>
              <a:tr h="6798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3. Install Claude Desktop</a:t>
                      </a:r>
                      <a:endParaRPr lang="en-GB" sz="1800"/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>
                          <a:hlinkClick r:id="rId2"/>
                        </a:rPr>
                        <a:t>https://claude.ai/download</a:t>
                      </a:r>
                      <a:endParaRPr lang="en-GB" sz="1800"/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Installs </a:t>
                      </a:r>
                      <a:r>
                        <a:rPr lang="en-US" sz="1800" b="1" dirty="0"/>
                        <a:t>Claude Desktop</a:t>
                      </a:r>
                      <a:r>
                        <a:rPr lang="en-US" sz="1800" dirty="0"/>
                        <a:t>, which can discover and connect to our MCP servers automatically.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3695337"/>
                  </a:ext>
                </a:extLst>
              </a:tr>
              <a:tr h="6798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4. Configure Claude</a:t>
                      </a:r>
                      <a:endParaRPr lang="en-GB" sz="1800"/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Create a </a:t>
                      </a:r>
                      <a:r>
                        <a:rPr lang="en-GB" sz="1800">
                          <a:latin typeface="Courier New" panose="02070309020205020404" pitchFamily="49" charset="0"/>
                        </a:rPr>
                        <a:t>.claude/config.json</a:t>
                      </a:r>
                      <a:r>
                        <a:rPr lang="en-GB" sz="1800"/>
                        <a:t> or similar config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Defines which MCP servers (e.g., database_server.py) Claude can connect to.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773425"/>
                  </a:ext>
                </a:extLst>
              </a:tr>
              <a:tr h="4759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5. Run MCP Server</a:t>
                      </a:r>
                      <a:endParaRPr lang="en-GB" sz="1800"/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ourier New" panose="02070309020205020404" pitchFamily="49" charset="0"/>
                        </a:rPr>
                        <a:t>python our_mcp_server.py</a:t>
                      </a:r>
                      <a:endParaRPr lang="en-US" sz="1800" dirty="0"/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Starts our custom MCP server that Claude can talk to.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0951115"/>
                  </a:ext>
                </a:extLst>
              </a:tr>
              <a:tr h="6798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6. Connect from Claude</a:t>
                      </a:r>
                      <a:endParaRPr lang="en-GB" sz="1800"/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Launch Claude Desktop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Claude automatically detects and communicates with our running MCP server using </a:t>
                      </a:r>
                      <a:r>
                        <a:rPr lang="en-US" sz="1800" b="1" dirty="0"/>
                        <a:t>standard I/O</a:t>
                      </a:r>
                      <a:r>
                        <a:rPr lang="en-US" sz="1800" dirty="0"/>
                        <a:t>.</a:t>
                      </a:r>
                    </a:p>
                  </a:txBody>
                  <a:tcPr marL="67990" marR="67990" marT="33995" marB="33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0453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4355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5E58D-B26C-2269-0637-98D0E9A5D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7722"/>
            <a:ext cx="10515600" cy="593313"/>
          </a:xfrm>
        </p:spPr>
        <p:txBody>
          <a:bodyPr>
            <a:normAutofit fontScale="90000"/>
          </a:bodyPr>
          <a:lstStyle/>
          <a:p>
            <a:r>
              <a:rPr lang="en-IN" dirty="0"/>
              <a:t>Alternatives to Claude Desktop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74C5E23-ACB3-19C9-F34D-055E2D4FE30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780" y="753856"/>
          <a:ext cx="10896020" cy="603846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368110">
                  <a:extLst>
                    <a:ext uri="{9D8B030D-6E8A-4147-A177-3AD203B41FA5}">
                      <a16:colId xmlns:a16="http://schemas.microsoft.com/office/drawing/2014/main" val="656446678"/>
                    </a:ext>
                  </a:extLst>
                </a:gridCol>
                <a:gridCol w="3545917">
                  <a:extLst>
                    <a:ext uri="{9D8B030D-6E8A-4147-A177-3AD203B41FA5}">
                      <a16:colId xmlns:a16="http://schemas.microsoft.com/office/drawing/2014/main" val="1100293749"/>
                    </a:ext>
                  </a:extLst>
                </a:gridCol>
                <a:gridCol w="3008446">
                  <a:extLst>
                    <a:ext uri="{9D8B030D-6E8A-4147-A177-3AD203B41FA5}">
                      <a16:colId xmlns:a16="http://schemas.microsoft.com/office/drawing/2014/main" val="1964878867"/>
                    </a:ext>
                  </a:extLst>
                </a:gridCol>
                <a:gridCol w="2973547">
                  <a:extLst>
                    <a:ext uri="{9D8B030D-6E8A-4147-A177-3AD203B41FA5}">
                      <a16:colId xmlns:a16="http://schemas.microsoft.com/office/drawing/2014/main" val="1574740877"/>
                    </a:ext>
                  </a:extLst>
                </a:gridCol>
              </a:tblGrid>
              <a:tr h="2024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Name</a:t>
                      </a: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What it is / Key features</a:t>
                      </a: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Pros</a:t>
                      </a: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Possible drawbacks</a:t>
                      </a:r>
                    </a:p>
                  </a:txBody>
                  <a:tcPr marL="30861" marR="30861" marT="15430" marB="15430" anchor="ctr"/>
                </a:tc>
                <a:extLst>
                  <a:ext uri="{0D108BD9-81ED-4DB2-BD59-A6C34878D82A}">
                    <a16:rowId xmlns:a16="http://schemas.microsoft.com/office/drawing/2014/main" val="2907395175"/>
                  </a:ext>
                </a:extLst>
              </a:tr>
              <a:tr h="523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Cursor</a:t>
                      </a:r>
                      <a:endParaRPr lang="en-GB" sz="1400"/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An AI-code editor with MCP support. Integrated into developer workflows. (</a:t>
                      </a:r>
                      <a:r>
                        <a:rPr lang="en-US" sz="1400">
                          <a:hlinkClick r:id="rId2" tooltip="Clients – Model Context Protocol （MCP）"/>
                        </a:rPr>
                        <a:t>modelcontextprotocol.info</a:t>
                      </a:r>
                      <a:r>
                        <a:rPr lang="en-US" sz="1400"/>
                        <a:t>)</a:t>
                      </a: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Good for coding, tools + prompts, more control for devs.</a:t>
                      </a: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Might be more technical/setup overhead; less polished as a “conversational chat UI.”</a:t>
                      </a:r>
                    </a:p>
                  </a:txBody>
                  <a:tcPr marL="30861" marR="30861" marT="15430" marB="15430" anchor="ctr"/>
                </a:tc>
                <a:extLst>
                  <a:ext uri="{0D108BD9-81ED-4DB2-BD59-A6C34878D82A}">
                    <a16:rowId xmlns:a16="http://schemas.microsoft.com/office/drawing/2014/main" val="577767390"/>
                  </a:ext>
                </a:extLst>
              </a:tr>
              <a:tr h="6219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BoltAI</a:t>
                      </a:r>
                      <a:endParaRPr lang="en-GB" sz="1400"/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All-in-one AI chat client that supports multiple AI providers (local / remote models) + MCP tool integrations. (</a:t>
                      </a:r>
                      <a:r>
                        <a:rPr lang="en-US" sz="1400">
                          <a:hlinkClick r:id="rId3" tooltip="Example Clients - Model Context Protocol"/>
                        </a:rPr>
                        <a:t>Model Context Protocol</a:t>
                      </a:r>
                      <a:r>
                        <a:rPr lang="en-US" sz="1400"/>
                        <a:t>)</a:t>
                      </a: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Flexible model choice, supports many MCP servers, tool + context integration.</a:t>
                      </a: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Might not have all desktop UI polish; possibly fewer non-dev features.</a:t>
                      </a:r>
                    </a:p>
                  </a:txBody>
                  <a:tcPr marL="30861" marR="30861" marT="15430" marB="15430" anchor="ctr"/>
                </a:tc>
                <a:extLst>
                  <a:ext uri="{0D108BD9-81ED-4DB2-BD59-A6C34878D82A}">
                    <a16:rowId xmlns:a16="http://schemas.microsoft.com/office/drawing/2014/main" val="3316248231"/>
                  </a:ext>
                </a:extLst>
              </a:tr>
              <a:tr h="6219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Chatbox</a:t>
                      </a:r>
                      <a:endParaRPr lang="en-GB" sz="1400"/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Desktop/Windows/Mac/Linux + web app; supports both local and remote MCP servers; built-in MCP server marketplace. (</a:t>
                      </a:r>
                      <a:r>
                        <a:rPr lang="en-GB" sz="1400">
                          <a:hlinkClick r:id="rId3" tooltip="Example Clients - Model Context Protocol"/>
                        </a:rPr>
                        <a:t>Model Context Protocol</a:t>
                      </a:r>
                      <a:r>
                        <a:rPr lang="en-GB" sz="1400"/>
                        <a:t>)</a:t>
                      </a: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Good cross-platform support; easier to explore available MCP servers.</a:t>
                      </a: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UI might be simpler; performance/features depend on our setup.</a:t>
                      </a:r>
                    </a:p>
                  </a:txBody>
                  <a:tcPr marL="30861" marR="30861" marT="15430" marB="15430" anchor="ctr"/>
                </a:tc>
                <a:extLst>
                  <a:ext uri="{0D108BD9-81ED-4DB2-BD59-A6C34878D82A}">
                    <a16:rowId xmlns:a16="http://schemas.microsoft.com/office/drawing/2014/main" val="1651018452"/>
                  </a:ext>
                </a:extLst>
              </a:tr>
              <a:tr h="425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LM Studio</a:t>
                      </a:r>
                      <a:endParaRPr lang="en-GB" sz="1400"/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Desktop app for local/open-source LLMs, with MCP support. (</a:t>
                      </a:r>
                      <a:r>
                        <a:rPr lang="en-US" sz="1400">
                          <a:hlinkClick r:id="rId3" tooltip="Example Clients - Model Context Protocol"/>
                        </a:rPr>
                        <a:t>Model Context Protocol</a:t>
                      </a:r>
                      <a:r>
                        <a:rPr lang="en-US" sz="1400"/>
                        <a:t>)</a:t>
                      </a: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Good if we want to run models locally; control &amp; privacy.</a:t>
                      </a: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Model quality depends on hardware; might need more setup; fewer proprietary features.</a:t>
                      </a:r>
                    </a:p>
                  </a:txBody>
                  <a:tcPr marL="30861" marR="30861" marT="15430" marB="15430" anchor="ctr"/>
                </a:tc>
                <a:extLst>
                  <a:ext uri="{0D108BD9-81ED-4DB2-BD59-A6C34878D82A}">
                    <a16:rowId xmlns:a16="http://schemas.microsoft.com/office/drawing/2014/main" val="371517011"/>
                  </a:ext>
                </a:extLst>
              </a:tr>
              <a:tr h="7201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Glama</a:t>
                      </a:r>
                      <a:endParaRPr lang="en-GB" sz="1400"/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An AI workspace &amp; integration platform, supporting multiple LLMs, tools, discovery + management of MCP servers. (</a:t>
                      </a:r>
                      <a:r>
                        <a:rPr lang="en-US" sz="1400">
                          <a:hlinkClick r:id="rId3" tooltip="Example Clients - Model Context Protocol"/>
                        </a:rPr>
                        <a:t>Model Context Protocol</a:t>
                      </a:r>
                      <a:r>
                        <a:rPr lang="en-US" sz="1400"/>
                        <a:t>)</a:t>
                      </a: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Good for combining many tools, managing MCP servers; workspace is more than just chat.</a:t>
                      </a: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It could be more complex; possibly paid features; less “lightweight.”</a:t>
                      </a:r>
                    </a:p>
                  </a:txBody>
                  <a:tcPr marL="30861" marR="30861" marT="15430" marB="15430" anchor="ctr"/>
                </a:tc>
                <a:extLst>
                  <a:ext uri="{0D108BD9-81ED-4DB2-BD59-A6C34878D82A}">
                    <a16:rowId xmlns:a16="http://schemas.microsoft.com/office/drawing/2014/main" val="475618896"/>
                  </a:ext>
                </a:extLst>
              </a:tr>
              <a:tr h="6219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Cline (VS Code extension)</a:t>
                      </a:r>
                      <a:endParaRPr lang="en-GB" sz="1400"/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Use VS Code as a client; we can configure MCP servers; interact via VS Code environment. (</a:t>
                      </a:r>
                      <a:r>
                        <a:rPr lang="en-GB" sz="1400" dirty="0">
                          <a:hlinkClick r:id="rId4" tooltip="MCP Clients | Glama"/>
                        </a:rPr>
                        <a:t>Glama – MCP Hosting Platform</a:t>
                      </a:r>
                      <a:r>
                        <a:rPr lang="en-GB" sz="1400" dirty="0"/>
                        <a:t>)</a:t>
                      </a: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Very powerful for devs; integrated with editor; good for code + tools.</a:t>
                      </a: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Not very “end user friendly” for non-dev tasks; more friction for casual use.</a:t>
                      </a:r>
                    </a:p>
                  </a:txBody>
                  <a:tcPr marL="30861" marR="30861" marT="15430" marB="15430" anchor="ctr"/>
                </a:tc>
                <a:extLst>
                  <a:ext uri="{0D108BD9-81ED-4DB2-BD59-A6C34878D82A}">
                    <a16:rowId xmlns:a16="http://schemas.microsoft.com/office/drawing/2014/main" val="2745540516"/>
                  </a:ext>
                </a:extLst>
              </a:tr>
              <a:tr h="425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ChatMCP</a:t>
                      </a:r>
                      <a:endParaRPr lang="en-GB" sz="1400"/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Desktop MCP client as listed on MCP/Glama. (</a:t>
                      </a:r>
                      <a:r>
                        <a:rPr lang="en-GB" sz="1400">
                          <a:hlinkClick r:id="rId4" tooltip="MCP Clients | Glama"/>
                        </a:rPr>
                        <a:t>Glama – MCP Hosting Platform</a:t>
                      </a:r>
                      <a:r>
                        <a:rPr lang="en-GB" sz="1400"/>
                        <a:t>)</a:t>
                      </a: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Purpose-built for MCP; likely simpler; more focused.</a:t>
                      </a: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Might lack some “extras” (UX polish, extra integrations) compared to “big” clients.</a:t>
                      </a:r>
                    </a:p>
                  </a:txBody>
                  <a:tcPr marL="30861" marR="30861" marT="15430" marB="15430" anchor="ctr"/>
                </a:tc>
                <a:extLst>
                  <a:ext uri="{0D108BD9-81ED-4DB2-BD59-A6C34878D82A}">
                    <a16:rowId xmlns:a16="http://schemas.microsoft.com/office/drawing/2014/main" val="4087542292"/>
                  </a:ext>
                </a:extLst>
              </a:tr>
              <a:tr h="541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5ire</a:t>
                      </a:r>
                      <a:endParaRPr lang="en-GB" sz="1400"/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Cross-platform desktop AI assistant, supports local knowledge base + tools via MCP. (</a:t>
                      </a:r>
                      <a:r>
                        <a:rPr lang="en-GB" sz="1400">
                          <a:hlinkClick r:id="rId4" tooltip="MCP Clients | Glama"/>
                        </a:rPr>
                        <a:t>Glama – MCP Hosting Platform</a:t>
                      </a:r>
                      <a:r>
                        <a:rPr lang="en-GB" sz="1400"/>
                        <a:t>)</a:t>
                      </a: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Good for combining local tools + external ones; usable desktop experience.</a:t>
                      </a:r>
                    </a:p>
                  </a:txBody>
                  <a:tcPr marL="30861" marR="30861" marT="15430" marB="15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Possibly some limitations in feature richness or speed depending on our machine.</a:t>
                      </a:r>
                    </a:p>
                  </a:txBody>
                  <a:tcPr marL="30861" marR="30861" marT="15430" marB="15430" anchor="ctr"/>
                </a:tc>
                <a:extLst>
                  <a:ext uri="{0D108BD9-81ED-4DB2-BD59-A6C34878D82A}">
                    <a16:rowId xmlns:a16="http://schemas.microsoft.com/office/drawing/2014/main" val="37252974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6144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785B1-A0CD-96E4-335F-DC4F84E67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Claude Desktop - MCP Servers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7D1C066-3D60-2116-2780-C69EF57AEE3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17792" y="1397029"/>
          <a:ext cx="10756416" cy="5999122"/>
        </p:xfrm>
        <a:graphic>
          <a:graphicData uri="http://schemas.openxmlformats.org/drawingml/2006/table">
            <a:tbl>
              <a:tblPr/>
              <a:tblGrid>
                <a:gridCol w="2163848">
                  <a:extLst>
                    <a:ext uri="{9D8B030D-6E8A-4147-A177-3AD203B41FA5}">
                      <a16:colId xmlns:a16="http://schemas.microsoft.com/office/drawing/2014/main" val="2316576624"/>
                    </a:ext>
                  </a:extLst>
                </a:gridCol>
                <a:gridCol w="4076409">
                  <a:extLst>
                    <a:ext uri="{9D8B030D-6E8A-4147-A177-3AD203B41FA5}">
                      <a16:colId xmlns:a16="http://schemas.microsoft.com/office/drawing/2014/main" val="2862901186"/>
                    </a:ext>
                  </a:extLst>
                </a:gridCol>
                <a:gridCol w="4516159">
                  <a:extLst>
                    <a:ext uri="{9D8B030D-6E8A-4147-A177-3AD203B41FA5}">
                      <a16:colId xmlns:a16="http://schemas.microsoft.com/office/drawing/2014/main" val="2304685173"/>
                    </a:ext>
                  </a:extLst>
                </a:gridCol>
              </a:tblGrid>
              <a:tr h="30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Step</a:t>
                      </a:r>
                      <a:endParaRPr lang="en-GB" sz="160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Action</a:t>
                      </a:r>
                      <a:endParaRPr lang="en-GB" sz="160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Simple Explanation / What Happens</a:t>
                      </a:r>
                      <a:endParaRPr lang="en-GB" sz="160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428735"/>
                  </a:ext>
                </a:extLst>
              </a:tr>
              <a:tr h="30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1. Visit Airbnb MCP Repo</a:t>
                      </a:r>
                      <a:endParaRPr lang="en-GB" sz="160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Go to </a:t>
                      </a:r>
                      <a:r>
                        <a:rPr lang="en-US" sz="1600">
                          <a:hlinkClick r:id="rId2"/>
                        </a:rPr>
                        <a:t>Airbnb MCP Server</a:t>
                      </a:r>
                      <a:endParaRPr lang="en-US" sz="160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Official GitHub page for the Airbnb MCP integration.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9835811"/>
                  </a:ext>
                </a:extLst>
              </a:tr>
              <a:tr h="30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2. Public MCP List</a:t>
                      </a:r>
                      <a:endParaRPr lang="en-GB" sz="160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>
                          <a:hlinkClick r:id="rId3"/>
                        </a:rPr>
                        <a:t>Public MCP APIs</a:t>
                      </a:r>
                      <a:endParaRPr lang="en-GB" sz="160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Optional reference for more public APIs and MCP servers.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463247"/>
                  </a:ext>
                </a:extLst>
              </a:tr>
              <a:tr h="30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3. Copy Config JSON</a:t>
                      </a:r>
                      <a:endParaRPr lang="en-GB" sz="160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Copy the JSON snippet under </a:t>
                      </a:r>
                      <a:r>
                        <a:rPr lang="en-US" sz="1600">
                          <a:latin typeface="Courier New" panose="02070309020205020404" pitchFamily="49" charset="0"/>
                        </a:rPr>
                        <a:t>--ignore-robots-txt</a:t>
                      </a:r>
                      <a:endParaRPr lang="en-US" sz="160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This JSON defines how Claude connects to the Airbnb MCP server.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831432"/>
                  </a:ext>
                </a:extLst>
              </a:tr>
              <a:tr h="30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4. Open Claude Desktop Config</a:t>
                      </a:r>
                      <a:endParaRPr lang="en-GB" sz="160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In Claude Desktop: </a:t>
                      </a:r>
                      <a:r>
                        <a:rPr lang="en-GB" sz="1600" b="1"/>
                        <a:t>File → Settings → Developer → Edit Config</a:t>
                      </a:r>
                      <a:endParaRPr lang="en-GB" sz="160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Opens the Claude configuration folder.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244919"/>
                  </a:ext>
                </a:extLst>
              </a:tr>
              <a:tr h="4351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5. Locate Config File</a:t>
                      </a:r>
                      <a:endParaRPr lang="en-GB" sz="160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Note the path of </a:t>
                      </a:r>
                      <a:r>
                        <a:rPr lang="en-US" sz="1600">
                          <a:latin typeface="Courier New" panose="02070309020205020404" pitchFamily="49" charset="0"/>
                        </a:rPr>
                        <a:t>claude_desktop_config.json</a:t>
                      </a:r>
                      <a:endParaRPr lang="en-US" sz="160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This file stores all MCP server configurations.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336707"/>
                  </a:ext>
                </a:extLst>
              </a:tr>
              <a:tr h="30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6. Edit Config File</a:t>
                      </a:r>
                      <a:endParaRPr lang="en-GB" sz="160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Right-click → </a:t>
                      </a:r>
                      <a:r>
                        <a:rPr lang="en-US" sz="1600" b="1"/>
                        <a:t>Open in Notepad</a:t>
                      </a:r>
                      <a:r>
                        <a:rPr lang="en-US" sz="1600"/>
                        <a:t> → Paste the copied JSON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Adds the Airbnb MCP server configuration.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4525606"/>
                  </a:ext>
                </a:extLst>
              </a:tr>
              <a:tr h="4351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7. Restart Claude Desktop</a:t>
                      </a:r>
                      <a:endParaRPr lang="en-GB" sz="160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System tray → Right-click Claude icon → Quit → Restart from Start menu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Reloads Claude and reads the updated configuration file.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4876279"/>
                  </a:ext>
                </a:extLst>
              </a:tr>
              <a:tr h="30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8. Confirm Server Load</a:t>
                      </a:r>
                      <a:endParaRPr lang="en-GB" sz="160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Open Claude Desktop → Click </a:t>
                      </a:r>
                      <a:r>
                        <a:rPr lang="en-US" sz="1600" b="1" dirty="0"/>
                        <a:t>Tools</a:t>
                      </a:r>
                      <a:endParaRPr lang="en-US" sz="160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we should now see </a:t>
                      </a:r>
                      <a:r>
                        <a:rPr lang="en-US" sz="1600" b="1" dirty="0"/>
                        <a:t>Airbnb (2 tools)</a:t>
                      </a:r>
                      <a:r>
                        <a:rPr lang="en-US" sz="1600" dirty="0"/>
                        <a:t> listed.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148514"/>
                  </a:ext>
                </a:extLst>
              </a:tr>
              <a:tr h="30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9. Use Airbnb Tool</a:t>
                      </a:r>
                      <a:endParaRPr lang="en-GB" sz="160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Ask: “Find me Airbnbs in Pune”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Claude uses the Airbnb MCP server to search listings.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504669"/>
                  </a:ext>
                </a:extLst>
              </a:tr>
              <a:tr h="30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10. Grant Permissions</a:t>
                      </a:r>
                      <a:endParaRPr lang="en-GB" sz="160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Approve when Claude asks for access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Allows Claude to connect to the Airbnb MCP server securely.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2672454"/>
                  </a:ext>
                </a:extLst>
              </a:tr>
              <a:tr h="304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11. See Listings</a:t>
                      </a:r>
                      <a:endParaRPr lang="en-GB" sz="160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Claude displays Airbnb search results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Real Airbnb data fetched via the MCP interface.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101909"/>
                  </a:ext>
                </a:extLst>
              </a:tr>
              <a:tr h="4351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12. Add More Filters</a:t>
                      </a:r>
                      <a:endParaRPr lang="en-GB" sz="160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From the </a:t>
                      </a:r>
                      <a:r>
                        <a:rPr lang="en-US" sz="1600">
                          <a:hlinkClick r:id="rId2"/>
                        </a:rPr>
                        <a:t>Airbnb MCP page</a:t>
                      </a:r>
                      <a:endParaRPr lang="en-US" sz="160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we can customize searches (e.g., check-in/check-out dates, guests, location).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7826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8514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311B-7601-F990-FF21-4E279D2FF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Testing a MCP Server</a:t>
            </a:r>
            <a:endParaRPr lang="en-GB" i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8672F13-33D7-9777-364B-26A89C8865D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546873" y="1770422"/>
          <a:ext cx="9806927" cy="4357833"/>
        </p:xfrm>
        <a:graphic>
          <a:graphicData uri="http://schemas.openxmlformats.org/drawingml/2006/table">
            <a:tbl>
              <a:tblPr/>
              <a:tblGrid>
                <a:gridCol w="958461">
                  <a:extLst>
                    <a:ext uri="{9D8B030D-6E8A-4147-A177-3AD203B41FA5}">
                      <a16:colId xmlns:a16="http://schemas.microsoft.com/office/drawing/2014/main" val="1730517349"/>
                    </a:ext>
                  </a:extLst>
                </a:gridCol>
                <a:gridCol w="3077253">
                  <a:extLst>
                    <a:ext uri="{9D8B030D-6E8A-4147-A177-3AD203B41FA5}">
                      <a16:colId xmlns:a16="http://schemas.microsoft.com/office/drawing/2014/main" val="383655348"/>
                    </a:ext>
                  </a:extLst>
                </a:gridCol>
                <a:gridCol w="5771213">
                  <a:extLst>
                    <a:ext uri="{9D8B030D-6E8A-4147-A177-3AD203B41FA5}">
                      <a16:colId xmlns:a16="http://schemas.microsoft.com/office/drawing/2014/main" val="1674379423"/>
                    </a:ext>
                  </a:extLst>
                </a:gridCol>
              </a:tblGrid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Step</a:t>
                      </a:r>
                      <a:endParaRPr lang="en-GB" sz="160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Action</a:t>
                      </a:r>
                      <a:endParaRPr lang="en-GB" sz="160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Description</a:t>
                      </a:r>
                      <a:endParaRPr lang="en-GB" sz="160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5449493"/>
                  </a:ext>
                </a:extLst>
              </a:tr>
              <a:tr h="12658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dirty="0"/>
                        <a:t>1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Test in Inspector Tool</a:t>
                      </a:r>
                      <a:endParaRPr lang="en-GB" sz="160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Run </a:t>
                      </a:r>
                      <a:r>
                        <a:rPr lang="en-US" sz="1600" b="1" dirty="0" err="1">
                          <a:latin typeface="Courier New" panose="02070309020205020404" pitchFamily="49" charset="0"/>
                        </a:rPr>
                        <a:t>mcp</a:t>
                      </a:r>
                      <a:r>
                        <a:rPr lang="en-US" sz="1600" b="1" dirty="0">
                          <a:latin typeface="Courier New" panose="02070309020205020404" pitchFamily="49" charset="0"/>
                        </a:rPr>
                        <a:t> dev 6_1_weather_mcp_server.py</a:t>
                      </a:r>
                      <a:r>
                        <a:rPr lang="en-US" sz="1600" dirty="0"/>
                        <a:t> </a:t>
                      </a:r>
                    </a:p>
                    <a:p>
                      <a:pPr>
                        <a:buNone/>
                      </a:pPr>
                      <a:endParaRPr lang="en-US" sz="1600" dirty="0"/>
                    </a:p>
                    <a:p>
                      <a:pPr>
                        <a:buNone/>
                      </a:pPr>
                      <a:r>
                        <a:rPr lang="en-US" sz="1600" dirty="0"/>
                        <a:t>Opens the MCP Inspector in the browser to check if our weather server runs correctly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7017359"/>
                  </a:ext>
                </a:extLst>
              </a:tr>
              <a:tr h="12658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2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Install Weather MCP Server</a:t>
                      </a:r>
                      <a:endParaRPr lang="en-GB" sz="160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Use </a:t>
                      </a:r>
                      <a:r>
                        <a:rPr lang="en-US" sz="1600" b="1" dirty="0" err="1">
                          <a:latin typeface="Courier New" panose="02070309020205020404" pitchFamily="49" charset="0"/>
                        </a:rPr>
                        <a:t>mcp</a:t>
                      </a:r>
                      <a:r>
                        <a:rPr lang="en-US" sz="1600" b="1" dirty="0">
                          <a:latin typeface="Courier New" panose="02070309020205020404" pitchFamily="49" charset="0"/>
                        </a:rPr>
                        <a:t> install 6_1_weather_mcp_server.py</a:t>
                      </a:r>
                      <a:r>
                        <a:rPr lang="en-US" sz="1600" dirty="0"/>
                        <a:t> </a:t>
                      </a:r>
                    </a:p>
                    <a:p>
                      <a:pPr>
                        <a:buNone/>
                      </a:pPr>
                      <a:endParaRPr lang="en-US" sz="1600" dirty="0"/>
                    </a:p>
                    <a:p>
                      <a:pPr>
                        <a:buNone/>
                      </a:pPr>
                      <a:r>
                        <a:rPr lang="en-US" sz="1600" dirty="0"/>
                        <a:t>Registers the Weather MCP server permanently so that Claude or other MCP clients can find it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664546"/>
                  </a:ext>
                </a:extLst>
              </a:tr>
              <a:tr h="15031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3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Test with MCP Client</a:t>
                      </a:r>
                      <a:endParaRPr lang="en-GB" sz="160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Run </a:t>
                      </a:r>
                      <a:r>
                        <a:rPr lang="en-US" sz="1600" b="1" dirty="0">
                          <a:latin typeface="Courier New" panose="02070309020205020404" pitchFamily="49" charset="0"/>
                        </a:rPr>
                        <a:t>python 6_1_weather_mcp_client.py</a:t>
                      </a:r>
                      <a:r>
                        <a:rPr lang="en-US" sz="1600" dirty="0"/>
                        <a:t> </a:t>
                      </a:r>
                    </a:p>
                    <a:p>
                      <a:pPr>
                        <a:buNone/>
                      </a:pPr>
                      <a:endParaRPr lang="en-US" sz="1600" dirty="0"/>
                    </a:p>
                    <a:p>
                      <a:pPr>
                        <a:buNone/>
                      </a:pPr>
                      <a:r>
                        <a:rPr lang="en-US" sz="1600" dirty="0"/>
                        <a:t>Sends a test request to the Weather MCP server to ensure it responds correctly with weather data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127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0119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C9548-6CCF-ABA9-0BEE-C49F03FC6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Calling the Airbnb MCP Server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0092110-50D3-0693-2BFD-34504DFC0B2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199" y="1898174"/>
          <a:ext cx="10839595" cy="3383280"/>
        </p:xfrm>
        <a:graphic>
          <a:graphicData uri="http://schemas.openxmlformats.org/drawingml/2006/table">
            <a:tbl>
              <a:tblPr/>
              <a:tblGrid>
                <a:gridCol w="798069">
                  <a:extLst>
                    <a:ext uri="{9D8B030D-6E8A-4147-A177-3AD203B41FA5}">
                      <a16:colId xmlns:a16="http://schemas.microsoft.com/office/drawing/2014/main" val="1287750013"/>
                    </a:ext>
                  </a:extLst>
                </a:gridCol>
                <a:gridCol w="10041526">
                  <a:extLst>
                    <a:ext uri="{9D8B030D-6E8A-4147-A177-3AD203B41FA5}">
                      <a16:colId xmlns:a16="http://schemas.microsoft.com/office/drawing/2014/main" val="3635057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Step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Action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56493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Go to </a:t>
                      </a:r>
                      <a:r>
                        <a:rPr lang="en-US">
                          <a:hlinkClick r:id="rId2"/>
                        </a:rPr>
                        <a:t>GitHub: Airbnb MCP Server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1089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Check the </a:t>
                      </a:r>
                      <a:r>
                        <a:rPr lang="en-US" b="1" dirty="0" err="1">
                          <a:latin typeface="Courier New" panose="02070309020205020404" pitchFamily="49" charset="0"/>
                        </a:rPr>
                        <a:t>mcp.json</a:t>
                      </a:r>
                      <a:r>
                        <a:rPr lang="en-US" dirty="0"/>
                        <a:t> file for configuration details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840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Add this in our MCP client:</a:t>
                      </a:r>
                    </a:p>
                    <a:p>
                      <a:pPr>
                        <a:buNone/>
                      </a:pPr>
                      <a:r>
                        <a:rPr lang="en-US" b="1" dirty="0" err="1">
                          <a:latin typeface="Courier New" panose="02070309020205020404" pitchFamily="49" charset="0"/>
                        </a:rPr>
                        <a:t>server_params</a:t>
                      </a:r>
                      <a:r>
                        <a:rPr lang="en-US" b="1" dirty="0">
                          <a:latin typeface="Courier New" panose="02070309020205020404" pitchFamily="49" charset="0"/>
                        </a:rPr>
                        <a:t> = </a:t>
                      </a:r>
                      <a:r>
                        <a:rPr lang="en-US" b="1" dirty="0" err="1">
                          <a:latin typeface="Courier New" panose="02070309020205020404" pitchFamily="49" charset="0"/>
                        </a:rPr>
                        <a:t>StdioServerParameters</a:t>
                      </a:r>
                      <a:endParaRPr lang="en-US" b="1" dirty="0">
                        <a:latin typeface="Courier New" panose="02070309020205020404" pitchFamily="49" charset="0"/>
                      </a:endParaRPr>
                    </a:p>
                    <a:p>
                      <a:pPr>
                        <a:buNone/>
                      </a:pPr>
                      <a:r>
                        <a:rPr lang="en-US" b="1" dirty="0">
                          <a:latin typeface="Courier New" panose="02070309020205020404" pitchFamily="49" charset="0"/>
                        </a:rPr>
                        <a:t>    (command="</a:t>
                      </a:r>
                      <a:r>
                        <a:rPr lang="en-US" b="1" dirty="0" err="1">
                          <a:latin typeface="Courier New" panose="02070309020205020404" pitchFamily="49" charset="0"/>
                        </a:rPr>
                        <a:t>npx</a:t>
                      </a:r>
                      <a:r>
                        <a:rPr lang="en-US" b="1" dirty="0">
                          <a:latin typeface="Courier New" panose="02070309020205020404" pitchFamily="49" charset="0"/>
                        </a:rPr>
                        <a:t>", </a:t>
                      </a:r>
                      <a:r>
                        <a:rPr lang="en-US" b="1" dirty="0" err="1">
                          <a:latin typeface="Courier New" panose="02070309020205020404" pitchFamily="49" charset="0"/>
                        </a:rPr>
                        <a:t>args</a:t>
                      </a:r>
                      <a:r>
                        <a:rPr lang="en-US" b="1" dirty="0">
                          <a:latin typeface="Courier New" panose="02070309020205020404" pitchFamily="49" charset="0"/>
                        </a:rPr>
                        <a:t>=</a:t>
                      </a:r>
                    </a:p>
                    <a:p>
                      <a:pPr>
                        <a:buNone/>
                      </a:pPr>
                      <a:r>
                        <a:rPr lang="en-US" b="1" dirty="0">
                          <a:latin typeface="Courier New" panose="02070309020205020404" pitchFamily="49" charset="0"/>
                        </a:rPr>
                        <a:t>       ["-y", "@</a:t>
                      </a:r>
                      <a:r>
                        <a:rPr lang="en-US" b="1" dirty="0" err="1">
                          <a:latin typeface="Courier New" panose="02070309020205020404" pitchFamily="49" charset="0"/>
                        </a:rPr>
                        <a:t>openbnb</a:t>
                      </a:r>
                      <a:r>
                        <a:rPr lang="en-US" b="1" dirty="0">
                          <a:latin typeface="Courier New" panose="02070309020205020404" pitchFamily="49" charset="0"/>
                        </a:rPr>
                        <a:t>/</a:t>
                      </a:r>
                      <a:r>
                        <a:rPr lang="en-US" b="1" dirty="0" err="1">
                          <a:latin typeface="Courier New" panose="02070309020205020404" pitchFamily="49" charset="0"/>
                        </a:rPr>
                        <a:t>mcp</a:t>
                      </a:r>
                      <a:r>
                        <a:rPr lang="en-US" b="1" dirty="0">
                          <a:latin typeface="Courier New" panose="02070309020205020404" pitchFamily="49" charset="0"/>
                        </a:rPr>
                        <a:t>-server-</a:t>
                      </a:r>
                      <a:r>
                        <a:rPr lang="en-US" b="1" dirty="0" err="1">
                          <a:latin typeface="Courier New" panose="02070309020205020404" pitchFamily="49" charset="0"/>
                        </a:rPr>
                        <a:t>airbnb</a:t>
                      </a:r>
                      <a:r>
                        <a:rPr lang="en-US" b="1" dirty="0">
                          <a:latin typeface="Courier New" panose="02070309020205020404" pitchFamily="49" charset="0"/>
                        </a:rPr>
                        <a:t>", "--ignore-robots-txt"])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9904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4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Note: Supported tools → </a:t>
                      </a:r>
                      <a:r>
                        <a:rPr lang="en-US" b="1" dirty="0" err="1">
                          <a:latin typeface="Courier New" panose="02070309020205020404" pitchFamily="49" charset="0"/>
                        </a:rPr>
                        <a:t>airbnb_search</a:t>
                      </a:r>
                      <a:r>
                        <a:rPr lang="en-US" dirty="0"/>
                        <a:t>, </a:t>
                      </a:r>
                      <a:r>
                        <a:rPr lang="en-US" b="1" dirty="0" err="1">
                          <a:latin typeface="Courier New" panose="02070309020205020404" pitchFamily="49" charset="0"/>
                        </a:rPr>
                        <a:t>airbnb_listing_details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35871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Run the client: </a:t>
                      </a:r>
                      <a:r>
                        <a:rPr lang="en-US" b="1" dirty="0">
                          <a:latin typeface="Courier New" panose="02070309020205020404" pitchFamily="49" charset="0"/>
                        </a:rPr>
                        <a:t>python 6_2_airbnb_mcp_client.py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899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6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Result: Installs Airbnb MCP server and fetches Airbnb listings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628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0567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01F4D-C77A-942C-3960-6E3DE9FF5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Crypto Server and Client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BFC51A9-D6FA-BE0B-4E6A-4D82B6981A5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18955" y="1683074"/>
          <a:ext cx="10515599" cy="4597595"/>
        </p:xfrm>
        <a:graphic>
          <a:graphicData uri="http://schemas.openxmlformats.org/drawingml/2006/table">
            <a:tbl>
              <a:tblPr/>
              <a:tblGrid>
                <a:gridCol w="607274">
                  <a:extLst>
                    <a:ext uri="{9D8B030D-6E8A-4147-A177-3AD203B41FA5}">
                      <a16:colId xmlns:a16="http://schemas.microsoft.com/office/drawing/2014/main" val="3699615403"/>
                    </a:ext>
                  </a:extLst>
                </a:gridCol>
                <a:gridCol w="9908325">
                  <a:extLst>
                    <a:ext uri="{9D8B030D-6E8A-4147-A177-3AD203B41FA5}">
                      <a16:colId xmlns:a16="http://schemas.microsoft.com/office/drawing/2014/main" val="1087010172"/>
                    </a:ext>
                  </a:extLst>
                </a:gridCol>
              </a:tblGrid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Step</a:t>
                      </a:r>
                      <a:endParaRPr lang="en-GB" sz="180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What to Do / Observe</a:t>
                      </a:r>
                      <a:endParaRPr lang="en-GB" sz="180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4354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1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Open browser → go to </a:t>
                      </a:r>
                      <a:r>
                        <a:rPr lang="en-US" sz="1800">
                          <a:hlinkClick r:id="rId2"/>
                        </a:rPr>
                        <a:t>https://api.coingecko.com/api/v3/simple/price?ids=bitcoin&amp;vs_currencies=inr</a:t>
                      </a:r>
                      <a:endParaRPr lang="en-US" sz="180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5970742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2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Check that it returns Bitcoin price in INR (JSON output)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1081341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3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Create MCP server that calls this API (</a:t>
                      </a:r>
                      <a:r>
                        <a:rPr lang="en-US" sz="1800">
                          <a:latin typeface="Courier New" panose="02070309020205020404" pitchFamily="49" charset="0"/>
                        </a:rPr>
                        <a:t>6_3_crypto_mcp_server.py</a:t>
                      </a:r>
                      <a:r>
                        <a:rPr lang="en-US" sz="1800"/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31282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4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Run locally for testing: </a:t>
                      </a:r>
                      <a:r>
                        <a:rPr lang="en-US" sz="1800" b="1" dirty="0" err="1">
                          <a:latin typeface="Courier New" panose="02070309020205020404" pitchFamily="49" charset="0"/>
                        </a:rPr>
                        <a:t>mcp</a:t>
                      </a:r>
                      <a:r>
                        <a:rPr lang="en-US" sz="1800" b="1" dirty="0">
                          <a:latin typeface="Courier New" panose="02070309020205020404" pitchFamily="49" charset="0"/>
                        </a:rPr>
                        <a:t> dev 6_3_crypto_mcp_server.py</a:t>
                      </a:r>
                      <a:endParaRPr lang="en-US" sz="1800" b="1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188114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5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Verify response again in browser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9870265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6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Install server: </a:t>
                      </a:r>
                      <a:r>
                        <a:rPr lang="en-GB" sz="1800" b="1" dirty="0" err="1">
                          <a:latin typeface="Courier New" panose="02070309020205020404" pitchFamily="49" charset="0"/>
                        </a:rPr>
                        <a:t>mcp</a:t>
                      </a:r>
                      <a:r>
                        <a:rPr lang="en-GB" sz="1800" b="1" dirty="0">
                          <a:latin typeface="Courier New" panose="02070309020205020404" pitchFamily="49" charset="0"/>
                        </a:rPr>
                        <a:t> install crypto.py</a:t>
                      </a:r>
                      <a:endParaRPr lang="en-GB" sz="1800" b="1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730782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7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Open Claude → ask “What is the price of Ethereum?”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442603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8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Then ask “Which is priced higher? Ethereum or Litecoin?” → triggers two API calls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440414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/>
                        <a:t>9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Create client to test your Crypto MCP server: </a:t>
                      </a:r>
                      <a:r>
                        <a:rPr lang="en-US" sz="1800" dirty="0">
                          <a:latin typeface="Courier New" panose="02070309020205020404" pitchFamily="49" charset="0"/>
                        </a:rPr>
                        <a:t>6_3_crypto_mcp_client.py</a:t>
                      </a:r>
                      <a:endParaRPr lang="en-US" sz="180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31800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27719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1B265-9E9D-7688-D5D8-3401A9BE9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MCP and Agents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33FF9-0C84-4ACE-5F79-5A8644748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Call Crypto MCP server using OpenAI Agents API: 6_4_crypto_agent_openai_agents_api.py</a:t>
            </a:r>
          </a:p>
          <a:p>
            <a:endParaRPr lang="en-IN" dirty="0"/>
          </a:p>
          <a:p>
            <a:r>
              <a:rPr lang="en-IN" dirty="0"/>
              <a:t>Then call it using </a:t>
            </a:r>
            <a:r>
              <a:rPr lang="en-IN" dirty="0" err="1"/>
              <a:t>LangGraph</a:t>
            </a:r>
            <a:r>
              <a:rPr lang="en-IN" dirty="0"/>
              <a:t>: 6_4_crypto_agent_langgraph_api.py</a:t>
            </a:r>
          </a:p>
          <a:p>
            <a:endParaRPr lang="en-IN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50911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1AFBC-8E1C-832B-A007-B2F797F3E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Calling Multiple MCP Servers Through Agentic AI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5DA17-E329-62B0-2711-86B35FF4F7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Create a second MCP server for converting one currency into another and inspect: </a:t>
            </a:r>
            <a:r>
              <a:rPr lang="en-IN" b="1" dirty="0" err="1"/>
              <a:t>mcp</a:t>
            </a:r>
            <a:r>
              <a:rPr lang="en-IN" b="1" dirty="0"/>
              <a:t> dev 6_5_forex_mcp_server.py</a:t>
            </a:r>
          </a:p>
          <a:p>
            <a:r>
              <a:rPr lang="en-IN" dirty="0"/>
              <a:t>Install it: </a:t>
            </a:r>
            <a:r>
              <a:rPr lang="en-IN" b="1" dirty="0" err="1"/>
              <a:t>mcp</a:t>
            </a:r>
            <a:r>
              <a:rPr lang="en-IN" b="1" dirty="0"/>
              <a:t> install 6_5_forex_mcp_server.py</a:t>
            </a:r>
          </a:p>
          <a:p>
            <a:r>
              <a:rPr lang="en-IN" dirty="0"/>
              <a:t>Modify the earlier </a:t>
            </a:r>
            <a:r>
              <a:rPr lang="en-IN" dirty="0" err="1"/>
              <a:t>LangGraph</a:t>
            </a:r>
            <a:r>
              <a:rPr lang="en-IN" dirty="0"/>
              <a:t> workflow to add a second node: (1) node-1 will get the crypto price in USD, (2) this second node will convert USD value to INR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31049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C9E73-63DF-42B6-5801-E9E27F1D0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Smithery.ai</a:t>
            </a:r>
            <a:endParaRPr lang="en-GB" dirty="0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A8E2D005-B22E-61C8-8F51-75547202403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214" y="1822469"/>
          <a:ext cx="11021661" cy="4580938"/>
        </p:xfrm>
        <a:graphic>
          <a:graphicData uri="http://schemas.openxmlformats.org/drawingml/2006/table">
            <a:tbl>
              <a:tblPr/>
              <a:tblGrid>
                <a:gridCol w="698015">
                  <a:extLst>
                    <a:ext uri="{9D8B030D-6E8A-4147-A177-3AD203B41FA5}">
                      <a16:colId xmlns:a16="http://schemas.microsoft.com/office/drawing/2014/main" val="141185111"/>
                    </a:ext>
                  </a:extLst>
                </a:gridCol>
                <a:gridCol w="4383536">
                  <a:extLst>
                    <a:ext uri="{9D8B030D-6E8A-4147-A177-3AD203B41FA5}">
                      <a16:colId xmlns:a16="http://schemas.microsoft.com/office/drawing/2014/main" val="3082772009"/>
                    </a:ext>
                  </a:extLst>
                </a:gridCol>
                <a:gridCol w="5940110">
                  <a:extLst>
                    <a:ext uri="{9D8B030D-6E8A-4147-A177-3AD203B41FA5}">
                      <a16:colId xmlns:a16="http://schemas.microsoft.com/office/drawing/2014/main" val="3603742149"/>
                    </a:ext>
                  </a:extLst>
                </a:gridCol>
              </a:tblGrid>
              <a:tr h="263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Step</a:t>
                      </a:r>
                      <a:endParaRPr lang="en-GB" sz="180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What to Do / Observe</a:t>
                      </a:r>
                      <a:endParaRPr lang="en-GB" sz="180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Purpose / Explanation</a:t>
                      </a:r>
                      <a:endParaRPr lang="en-GB" sz="180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2930782"/>
                  </a:ext>
                </a:extLst>
              </a:tr>
              <a:tr h="461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1</a:t>
                      </a:r>
                      <a:endParaRPr lang="en-GB" sz="180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sz="1800"/>
                        <a:t>Go to </a:t>
                      </a:r>
                      <a:r>
                        <a:rPr lang="pl-PL" sz="1800">
                          <a:hlinkClick r:id="rId2"/>
                        </a:rPr>
                        <a:t>https://smithery.ai</a:t>
                      </a:r>
                      <a:endParaRPr lang="pl-PL" sz="180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Platform providing ready-to-use MCP servers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137537"/>
                  </a:ext>
                </a:extLst>
              </a:tr>
              <a:tr h="461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2</a:t>
                      </a:r>
                      <a:endParaRPr lang="en-GB" sz="180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Log in using </a:t>
                      </a:r>
                      <a:r>
                        <a:rPr lang="en-US" sz="1800" b="1" dirty="0"/>
                        <a:t>Google</a:t>
                      </a:r>
                      <a:r>
                        <a:rPr lang="en-US" sz="1800" dirty="0"/>
                        <a:t> or </a:t>
                      </a:r>
                      <a:r>
                        <a:rPr lang="en-US" sz="1800" b="1" dirty="0"/>
                        <a:t>GitHub</a:t>
                      </a:r>
                      <a:r>
                        <a:rPr lang="en-US" sz="1800" dirty="0"/>
                        <a:t> account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Authenticate to access and manage available MCP servers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93772"/>
                  </a:ext>
                </a:extLst>
              </a:tr>
              <a:tr h="461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3</a:t>
                      </a:r>
                      <a:endParaRPr lang="en-GB" sz="180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On the main dashboard, click </a:t>
                      </a:r>
                      <a:r>
                        <a:rPr lang="en-US" sz="1800" b="1" dirty="0"/>
                        <a:t>Exa Search</a:t>
                      </a:r>
                      <a:endParaRPr lang="en-US" sz="180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Explore the Exa Search MCP server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85703"/>
                  </a:ext>
                </a:extLst>
              </a:tr>
              <a:tr h="461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4</a:t>
                      </a:r>
                      <a:endParaRPr lang="en-GB" sz="180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Under </a:t>
                      </a:r>
                      <a:r>
                        <a:rPr lang="en-GB" sz="1800" b="1" dirty="0"/>
                        <a:t>Connect</a:t>
                      </a:r>
                      <a:r>
                        <a:rPr lang="en-GB" sz="1800" dirty="0"/>
                        <a:t>, click </a:t>
                      </a:r>
                      <a:r>
                        <a:rPr lang="en-GB" sz="1800" b="1" dirty="0"/>
                        <a:t>Python</a:t>
                      </a:r>
                      <a:endParaRPr lang="en-GB" sz="180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To get Python connection instructions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544773"/>
                  </a:ext>
                </a:extLst>
              </a:tr>
              <a:tr h="461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5</a:t>
                      </a:r>
                      <a:endParaRPr lang="en-GB" sz="180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Copy the generated Python code and run it locally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Establish connection between your MCP client and Smithery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796201"/>
                  </a:ext>
                </a:extLst>
              </a:tr>
              <a:tr h="659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6</a:t>
                      </a:r>
                      <a:endParaRPr lang="en-GB" sz="180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Run </a:t>
                      </a:r>
                      <a:r>
                        <a:rPr lang="en-US" sz="1800" dirty="0">
                          <a:latin typeface="Courier New" panose="02070309020205020404" pitchFamily="49" charset="0"/>
                        </a:rPr>
                        <a:t>6_7_smithery_exa_search.py</a:t>
                      </a:r>
                      <a:endParaRPr lang="en-US" sz="180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Test Exa Search → performs intelligent web search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861477"/>
                  </a:ext>
                </a:extLst>
              </a:tr>
              <a:tr h="461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7</a:t>
                      </a:r>
                      <a:endParaRPr lang="en-GB" sz="180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Run </a:t>
                      </a:r>
                      <a:r>
                        <a:rPr lang="en-US" sz="1800" dirty="0">
                          <a:latin typeface="Courier New" panose="02070309020205020404" pitchFamily="49" charset="0"/>
                        </a:rPr>
                        <a:t>6_8_smithery_weather.py</a:t>
                      </a:r>
                      <a:endParaRPr lang="en-US" sz="180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Test Weather MCP server → fetches real-time weather data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126318"/>
                  </a:ext>
                </a:extLst>
              </a:tr>
              <a:tr h="659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8</a:t>
                      </a:r>
                      <a:endParaRPr lang="en-GB" sz="180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Open </a:t>
                      </a:r>
                      <a:r>
                        <a:rPr lang="en-US" sz="1800" b="1" dirty="0"/>
                        <a:t>Claude Desktop → Tools Panel</a:t>
                      </a:r>
                      <a:endParaRPr lang="en-US" sz="180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Verify that the Smithery MCP servers (Exa Search, Weather, etc.) are listed and ready for use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91106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8026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2667</Words>
  <Application>Microsoft Office PowerPoint</Application>
  <PresentationFormat>Widescreen</PresentationFormat>
  <Paragraphs>347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Cascadia Code</vt:lpstr>
      <vt:lpstr>Courier New</vt:lpstr>
      <vt:lpstr>Office Theme</vt:lpstr>
      <vt:lpstr>6) MCP</vt:lpstr>
      <vt:lpstr>MCP</vt:lpstr>
      <vt:lpstr>MCP Server Types</vt:lpstr>
      <vt:lpstr>Building Our Own MCP Server</vt:lpstr>
      <vt:lpstr>How it Works</vt:lpstr>
      <vt:lpstr>PowerPoint Presentation</vt:lpstr>
      <vt:lpstr>MCP Installation</vt:lpstr>
      <vt:lpstr>Alternatives to Claude Desktop</vt:lpstr>
      <vt:lpstr>Claude Desktop - MCP Servers</vt:lpstr>
      <vt:lpstr>Testing a MCP Server</vt:lpstr>
      <vt:lpstr>Calling the Airbnb MCP Server</vt:lpstr>
      <vt:lpstr>Crypto Server and Client</vt:lpstr>
      <vt:lpstr>MCP and Agents</vt:lpstr>
      <vt:lpstr>Calling Multiple MCP Servers Through Agentic AI</vt:lpstr>
      <vt:lpstr>Smithery.ai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Kahate</dc:creator>
  <cp:lastModifiedBy>Atul Kahate</cp:lastModifiedBy>
  <cp:revision>2</cp:revision>
  <dcterms:created xsi:type="dcterms:W3CDTF">2025-10-28T12:58:33Z</dcterms:created>
  <dcterms:modified xsi:type="dcterms:W3CDTF">2025-11-14T14:52:50Z</dcterms:modified>
</cp:coreProperties>
</file>