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61" r:id="rId2"/>
    <p:sldId id="573" r:id="rId3"/>
    <p:sldId id="718" r:id="rId4"/>
    <p:sldId id="634" r:id="rId5"/>
    <p:sldId id="719" r:id="rId6"/>
    <p:sldId id="575" r:id="rId7"/>
    <p:sldId id="636" r:id="rId8"/>
    <p:sldId id="637" r:id="rId9"/>
    <p:sldId id="720" r:id="rId10"/>
    <p:sldId id="7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B8E3B-DD8D-4E2A-8287-008FBB5E9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825FA8-E287-86F6-2A9D-10FE2403C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2C827-0A52-BB97-05E4-5B39403A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F0600-A067-C423-DD5E-2DC05062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2060F-E59F-D8B7-B986-60E3390F8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162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301DF-1618-51EA-F2BB-A36FFD5D8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9EDF2-0D2C-4D6F-BF73-B0511214A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81342-304D-5A1A-98EE-1778B19D6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7515-14BF-439E-2A98-8626E7EA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368DD-0868-A18D-38F9-AF0B2BC8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6316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BB10-B425-ACA9-6162-EEB927C6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6EC28-09BB-B2B3-4EB6-5B250F7CA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ACE0E-3D81-D44D-917B-A68E9736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E7E7A-0210-78FD-CB82-E68C0362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69FD5-8BCF-43E0-A8B7-E6FD619B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862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7DFA-4879-16A7-448A-06885ABC8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3CDF5-4072-68BA-CE5C-666629487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63054-569F-2ECB-C87D-C3CC60E4C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C46DC-4CC2-5A49-3A1B-6509FEE7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52CEB-8CA3-6B86-7A8A-88082DF3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4E0240-7FA6-7647-DCA0-773928A6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72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929D-AAF0-BE7E-CAF0-55DA5661C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9D78E-A210-EF67-0509-35A83054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DBF75-EAB8-1827-4195-12E54BE5D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A51A4-4EB8-1D74-8820-E0364C3112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8AA8F1-7262-5577-BA55-7D4C8FF3B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CCD078-0708-B328-E76B-BE4410AD7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BCCA91-3752-9B4F-456E-3E25156A8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F7BD39-A995-B0A4-7534-A834E4261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23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B6B9-BB8B-25B3-A0F2-00116027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0D828D-3C42-9A48-7F51-955B910CF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12F45F-809A-94B6-4B90-83E1B7349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CDE9B-C044-3857-9093-C477B6B9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692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601D4-85A6-9EBA-E7C2-EA18DDA2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CDACC8-C551-49F1-8564-0558F7CA6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0ED8D-7EC2-5DE4-6541-1C94E182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230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09AD3-86F3-50E4-79FD-E213FC8B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D9ED7-519B-4A47-A1D7-EC83F9CC1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75E40-81AE-B1AB-53C4-8145A871A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DD852-6EC9-5239-5BC2-C5662851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6173A-F63F-FB37-F52A-E06D63A0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5607E-47AC-D25C-38CC-858419D6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807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CB3AB-7BBD-FA1E-756F-31BCB204F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C1531-74CF-C50B-3AF2-D40EB7098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BF6778-D1B2-4600-C46B-0A69C6EE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06AB8-64A4-7E14-93DE-EE4D39680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FD291-09E3-0D52-7B33-985BBB07B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63557-CCE1-8F96-4547-A86EFB94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381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E4C9-3D12-3751-912F-AE58B9FE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9CCF4-C32E-56F9-67A3-F3546E2F3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85BB4-9EC1-7491-1403-FC2A872F6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D5FF9-A94C-4843-182E-610EAFD8D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9CE63-7AFE-843F-03B8-6FEEEF071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37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9C4467-932B-8CD5-7E37-0AED9677B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BE2CCD-C368-085B-F410-61DB4476E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6A8E-EAB7-6DBE-35AE-0636F7B14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8C246-703F-5FE5-2C64-7DD810E75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77912-29F3-3F9E-6061-C869488B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099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07D95-CA76-8A57-0EC6-B656D88E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F2D09-917E-B0B9-A7A8-63FA12012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0036A-DD4B-789D-F5C8-A320F3E2E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7E221-DB56-47EA-8E62-7C219704842A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7D263-AB63-6B79-8E22-698D51ACD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10C6-B909-FF88-C057-054E838D69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DAA11-4AF7-4506-BD1F-27ED0DCEF8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87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67201" TargetMode="External"/><Relationship Id="rId7" Type="http://schemas.openxmlformats.org/officeDocument/2006/relationships/hyperlink" Target="https://zh.wikipedia.org/zh-tw/GPT-3.5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teliapp.com/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oft.github.io/autogen/dev/user-guide/core-user-guide/design-patterns/handoffs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FE3853-F61E-C133-B525-0A04CDB4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5) </a:t>
            </a:r>
            <a:r>
              <a:rPr lang="en-IN" dirty="0" err="1"/>
              <a:t>Autogen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758E1-5D47-9C38-A22A-3D91FE4C3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324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7E20-EB82-66BF-5FA8-DD297DE6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Autogen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DB7E-9FFD-869A-3943-BA5D8053B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 err="1"/>
              <a:t>Autogen</a:t>
            </a:r>
            <a:r>
              <a:rPr lang="en-US" sz="2400" dirty="0"/>
              <a:t>: Open-source programming framework for building AI agents and facilitating cooperation among multiple agents to solve tasks</a:t>
            </a:r>
            <a:endParaRPr lang="en-IN" sz="2400" dirty="0"/>
          </a:p>
          <a:p>
            <a:r>
              <a:rPr lang="en-IN" sz="2400" dirty="0"/>
              <a:t>Version 0.4: Completely revamped to use asynchronous operations</a:t>
            </a:r>
          </a:p>
          <a:p>
            <a:r>
              <a:rPr lang="en-IN" sz="2400" dirty="0"/>
              <a:t>Approaches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75963-7539-C404-CB68-48A52B4C6D63}"/>
              </a:ext>
            </a:extLst>
          </p:cNvPr>
          <p:cNvGraphicFramePr>
            <a:graphicFrameLocks noGrp="1"/>
          </p:cNvGraphicFramePr>
          <p:nvPr/>
        </p:nvGraphicFramePr>
        <p:xfrm>
          <a:off x="1122444" y="3558061"/>
          <a:ext cx="9947112" cy="304188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99669">
                  <a:extLst>
                    <a:ext uri="{9D8B030D-6E8A-4147-A177-3AD203B41FA5}">
                      <a16:colId xmlns:a16="http://schemas.microsoft.com/office/drawing/2014/main" val="2896709958"/>
                    </a:ext>
                  </a:extLst>
                </a:gridCol>
                <a:gridCol w="2366272">
                  <a:extLst>
                    <a:ext uri="{9D8B030D-6E8A-4147-A177-3AD203B41FA5}">
                      <a16:colId xmlns:a16="http://schemas.microsoft.com/office/drawing/2014/main" val="356341605"/>
                    </a:ext>
                  </a:extLst>
                </a:gridCol>
                <a:gridCol w="2799041">
                  <a:extLst>
                    <a:ext uri="{9D8B030D-6E8A-4147-A177-3AD203B41FA5}">
                      <a16:colId xmlns:a16="http://schemas.microsoft.com/office/drawing/2014/main" val="1063211647"/>
                    </a:ext>
                  </a:extLst>
                </a:gridCol>
                <a:gridCol w="3482130">
                  <a:extLst>
                    <a:ext uri="{9D8B030D-6E8A-4147-A177-3AD203B41FA5}">
                      <a16:colId xmlns:a16="http://schemas.microsoft.com/office/drawing/2014/main" val="3746004613"/>
                    </a:ext>
                  </a:extLst>
                </a:gridCol>
              </a:tblGrid>
              <a:tr h="18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Tool / Component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Purpose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Key Features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When to Use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694164379"/>
                  </a:ext>
                </a:extLst>
              </a:tr>
              <a:tr h="87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Autogen Studio</a:t>
                      </a:r>
                      <a:endParaRPr lang="en-GB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Web-based UI for agent prototyping without writing code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No-code prototyping, drag-and-drop interface, quick experimentation, visualization of agent interactions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When we want to </a:t>
                      </a:r>
                      <a:r>
                        <a:rPr lang="en-US" sz="1400" b="1" dirty="0"/>
                        <a:t>prototype quickly</a:t>
                      </a:r>
                      <a:r>
                        <a:rPr lang="en-US" sz="1400" dirty="0"/>
                        <a:t> without coding, demo ideas, or validate workflows before implementation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585940912"/>
                  </a:ext>
                </a:extLst>
              </a:tr>
              <a:tr h="73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AgentChat</a:t>
                      </a:r>
                      <a:endParaRPr lang="en-GB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Programming framework for building conversational single &amp;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Focus on dialogue systems, conversational logic, agent orchestration, extensibility via Python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When building </a:t>
                      </a:r>
                      <a:r>
                        <a:rPr lang="en-US" sz="1400" b="1"/>
                        <a:t>chatbots or multi-agent conversations</a:t>
                      </a:r>
                      <a:r>
                        <a:rPr lang="en-US" sz="1400"/>
                        <a:t> where dialogue and interaction flow matter most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286237663"/>
                  </a:ext>
                </a:extLst>
              </a:tr>
              <a:tr h="73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Core</a:t>
                      </a:r>
                      <a:endParaRPr lang="en-GB" sz="14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Event-driven programming framework for building scalable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Low-level primitives for agents, event/message handling, supports complex workflows, high scalability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When we need </a:t>
                      </a:r>
                      <a:r>
                        <a:rPr lang="en-US" sz="1400" b="1" dirty="0"/>
                        <a:t>scalable, event-driven systems</a:t>
                      </a:r>
                      <a:r>
                        <a:rPr lang="en-US" sz="1400" dirty="0"/>
                        <a:t> with many agents coordinating beyond simple conversations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218294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157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A5282-8C53-8966-B9D9-F8C7EB9E5E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5856" y="153564"/>
          <a:ext cx="10797716" cy="637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23584">
                  <a:extLst>
                    <a:ext uri="{9D8B030D-6E8A-4147-A177-3AD203B41FA5}">
                      <a16:colId xmlns:a16="http://schemas.microsoft.com/office/drawing/2014/main" val="2255267305"/>
                    </a:ext>
                  </a:extLst>
                </a:gridCol>
                <a:gridCol w="4174132">
                  <a:extLst>
                    <a:ext uri="{9D8B030D-6E8A-4147-A177-3AD203B41FA5}">
                      <a16:colId xmlns:a16="http://schemas.microsoft.com/office/drawing/2014/main" val="425367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Details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Code 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510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Basic example to illustrate </a:t>
                      </a:r>
                      <a:r>
                        <a:rPr lang="en-IN" dirty="0" err="1"/>
                        <a:t>Autogen</a:t>
                      </a:r>
                      <a:r>
                        <a:rPr lang="en-IN" dirty="0"/>
                        <a:t> syntax using </a:t>
                      </a:r>
                      <a:r>
                        <a:rPr lang="en-IN" dirty="0" err="1"/>
                        <a:t>AssistantAgent</a:t>
                      </a:r>
                      <a:r>
                        <a:rPr lang="en-IN" dirty="0"/>
                        <a:t>*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5_1_autogen_basic.py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Same example, but making a call to the Forex API to get actual live rate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5_2_autogen_forex_api.py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338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Adding </a:t>
                      </a:r>
                      <a:r>
                        <a:rPr lang="en-IN" dirty="0" err="1"/>
                        <a:t>TextMessage</a:t>
                      </a:r>
                      <a:r>
                        <a:rPr lang="en-IN" dirty="0"/>
                        <a:t>* object to send the user message to the agent, instead of passing it as a simple task message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5_3_autogen_forex_api_text_message.py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54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Adding </a:t>
                      </a:r>
                      <a:r>
                        <a:rPr lang="en-IN" dirty="0" err="1"/>
                        <a:t>MultiModalMessage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5_4_autogen_multimodal_message.py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0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Running two agents synchronously*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5_5_autogen_synchronous_agents.py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Running two agents asynchronously*, use Anthropic Claude LLM, Yahoo Finance to get stock market data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5_6_autogen_asynchronous_agents.py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312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Implementing structured output* (Currently only OpenAI supported)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5_7_autogen_structured_output.py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8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Round Robin Chat*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5_8_autogen_round_robin_group_chat.py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48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Selector Group Chat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5_9_autogen_selector_group_chat.py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9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Magentic</a:t>
                      </a:r>
                      <a:r>
                        <a:rPr lang="en-IN" dirty="0"/>
                        <a:t> One Group Chat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5_10_autogen_magentic_group_chat.py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1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“India never faced a recession in the last 30 years” claim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5_11_autogen_recession_claim.py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4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GraphFlow</a:t>
                      </a:r>
                      <a:r>
                        <a:rPr lang="en-IN" dirty="0"/>
                        <a:t> in </a:t>
                      </a:r>
                      <a:r>
                        <a:rPr lang="en-IN" dirty="0" err="1"/>
                        <a:t>Autogen</a:t>
                      </a:r>
                      <a:r>
                        <a:rPr lang="en-IN" dirty="0"/>
                        <a:t>*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5_12_autogen_graphflow.py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err="1"/>
                        <a:t>GraphFlow</a:t>
                      </a:r>
                      <a:r>
                        <a:rPr lang="en-IN" dirty="0"/>
                        <a:t> Parallel Flow with Join (Two editors -&gt; Final reviewer)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5_13_autogen_graphflow_parallel_join.py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85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Memory*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5_14_autogen_memory.py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42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54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220B-1CB2-C329-B113-82685E3E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AssistantAgent</a:t>
            </a:r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9D5B89-8C95-2665-DF4A-33FFF408B61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1508" y="1797705"/>
          <a:ext cx="10861041" cy="457358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78025">
                  <a:extLst>
                    <a:ext uri="{9D8B030D-6E8A-4147-A177-3AD203B41FA5}">
                      <a16:colId xmlns:a16="http://schemas.microsoft.com/office/drawing/2014/main" val="4044174048"/>
                    </a:ext>
                  </a:extLst>
                </a:gridCol>
                <a:gridCol w="3853044">
                  <a:extLst>
                    <a:ext uri="{9D8B030D-6E8A-4147-A177-3AD203B41FA5}">
                      <a16:colId xmlns:a16="http://schemas.microsoft.com/office/drawing/2014/main" val="32331458"/>
                    </a:ext>
                  </a:extLst>
                </a:gridCol>
                <a:gridCol w="4229972">
                  <a:extLst>
                    <a:ext uri="{9D8B030D-6E8A-4147-A177-3AD203B41FA5}">
                      <a16:colId xmlns:a16="http://schemas.microsoft.com/office/drawing/2014/main" val="1204664872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Parameter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What it Does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Why it is Important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0076210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name="</a:t>
                      </a:r>
                      <a:r>
                        <a:rPr lang="en-GB" sz="1600" b="0" dirty="0" err="1"/>
                        <a:t>forex_agent</a:t>
                      </a:r>
                      <a:r>
                        <a:rPr lang="en-GB" sz="1600" b="0" dirty="0"/>
                        <a:t>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Assigns a unique name to the agent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Useful for identifying the agent when we have multiple agents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04203394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 err="1"/>
                        <a:t>model_client</a:t>
                      </a:r>
                      <a:r>
                        <a:rPr lang="en-GB" sz="1600" b="0" dirty="0"/>
                        <a:t>=</a:t>
                      </a:r>
                      <a:r>
                        <a:rPr lang="en-GB" sz="1600" b="0" dirty="0" err="1"/>
                        <a:t>model_client</a:t>
                      </a:r>
                      <a:endParaRPr lang="en-GB" sz="1600" b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Connects the agent to the </a:t>
                      </a:r>
                      <a:r>
                        <a:rPr lang="en-US" sz="1600" dirty="0" err="1"/>
                        <a:t>OpenAIChatCompletionClient</a:t>
                      </a:r>
                      <a:r>
                        <a:rPr lang="en-US" sz="1600" dirty="0"/>
                        <a:t> (gpt-4o)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This is the LLM backend that powers the agent’s reasoning and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9692578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/>
                        <a:t>tools=[</a:t>
                      </a:r>
                      <a:r>
                        <a:rPr lang="en-GB" sz="1600" b="0" dirty="0" err="1"/>
                        <a:t>get_forex_rate</a:t>
                      </a:r>
                      <a:r>
                        <a:rPr lang="en-GB" sz="1600" b="0" dirty="0"/>
                        <a:t>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Gives the agent access to external functions (here: forex lookup)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Lets the agent use functions instead of relying only on text generation (</a:t>
                      </a:r>
                      <a:r>
                        <a:rPr lang="en-US" sz="1600" b="0" i="1" dirty="0" err="1"/>
                        <a:t>AssistantAgent</a:t>
                      </a:r>
                      <a:r>
                        <a:rPr lang="en-US" sz="1600" b="0" i="1" dirty="0"/>
                        <a:t> </a:t>
                      </a:r>
                      <a:r>
                        <a:rPr lang="en-US" sz="1600" b="0" dirty="0"/>
                        <a:t>automatically converts a Python function into a </a:t>
                      </a:r>
                      <a:r>
                        <a:rPr lang="en-US" sz="1600" b="0" i="1" dirty="0" err="1"/>
                        <a:t>FunctionTool</a:t>
                      </a:r>
                      <a:r>
                        <a:rPr lang="en-US" sz="1600" b="0" i="0" dirty="0"/>
                        <a:t>, while also generating the schema</a:t>
                      </a:r>
                      <a:r>
                        <a:rPr lang="en-US" sz="1600" b="0" dirty="0"/>
                        <a:t>) 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38907511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/>
                        <a:t>system_message</a:t>
                      </a:r>
                      <a:r>
                        <a:rPr lang="en-US" sz="1600" b="0" dirty="0"/>
                        <a:t>="You are a helpful assistant."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Sets the agent’s role and behavior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Guides tone, style, and purpose of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80452289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 err="1"/>
                        <a:t>reflect_on_tool_use</a:t>
                      </a:r>
                      <a:r>
                        <a:rPr lang="en-US" sz="1600" b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Enables the agent to review and improve how it calls tools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Adds a “self-check” step for better accuracy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9699667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0" dirty="0" err="1"/>
                        <a:t>model_client_stream</a:t>
                      </a:r>
                      <a:r>
                        <a:rPr lang="en-GB" sz="1600" b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Streams model output token by token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dirty="0"/>
                        <a:t>Allows real-time responses instead of waiting for the full output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45615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775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05C3-B435-496B-AB91-29F06CCA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TextMessage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3587-C7B2-C395-2CAC-2A05B35D1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DE796-FBC8-8F58-7432-C9FAE3656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092602" y="1505420"/>
            <a:ext cx="513069" cy="816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2CB437-7957-EDC7-13F5-E013ACF6BDFA}"/>
              </a:ext>
            </a:extLst>
          </p:cNvPr>
          <p:cNvSpPr txBox="1"/>
          <p:nvPr/>
        </p:nvSpPr>
        <p:spPr>
          <a:xfrm>
            <a:off x="327522" y="1825625"/>
            <a:ext cx="81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User</a:t>
            </a:r>
            <a:endParaRPr lang="en-GB" b="1" dirty="0"/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8B6251AD-F4CD-0185-D864-70378337EE46}"/>
              </a:ext>
            </a:extLst>
          </p:cNvPr>
          <p:cNvSpPr/>
          <p:nvPr/>
        </p:nvSpPr>
        <p:spPr>
          <a:xfrm rot="5400000">
            <a:off x="1179021" y="2458768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3F4F4-4E55-0DCB-AAB3-CA9CBC406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79799" y="4373205"/>
            <a:ext cx="1156962" cy="9602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910B15-9C5B-5BB4-D712-50840E478E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19856" y="5869974"/>
            <a:ext cx="858560" cy="8585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A2B824-22A6-8C68-10DD-A63E49B22B1A}"/>
              </a:ext>
            </a:extLst>
          </p:cNvPr>
          <p:cNvSpPr txBox="1"/>
          <p:nvPr/>
        </p:nvSpPr>
        <p:spPr>
          <a:xfrm>
            <a:off x="1631699" y="5546808"/>
            <a:ext cx="1463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Model Client (LLM)</a:t>
            </a:r>
            <a:endParaRPr lang="en-GB" b="1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9E3C41-9A4F-41E0-9D2A-77DAE61C3EA3}"/>
              </a:ext>
            </a:extLst>
          </p:cNvPr>
          <p:cNvGraphicFramePr>
            <a:graphicFrameLocks noGrp="1"/>
          </p:cNvGraphicFramePr>
          <p:nvPr/>
        </p:nvGraphicFramePr>
        <p:xfrm>
          <a:off x="3961984" y="160544"/>
          <a:ext cx="7918421" cy="6466866"/>
        </p:xfrm>
        <a:graphic>
          <a:graphicData uri="http://schemas.openxmlformats.org/drawingml/2006/table">
            <a:tbl>
              <a:tblPr/>
              <a:tblGrid>
                <a:gridCol w="617131">
                  <a:extLst>
                    <a:ext uri="{9D8B030D-6E8A-4147-A177-3AD203B41FA5}">
                      <a16:colId xmlns:a16="http://schemas.microsoft.com/office/drawing/2014/main" val="2494638255"/>
                    </a:ext>
                  </a:extLst>
                </a:gridCol>
                <a:gridCol w="1577380">
                  <a:extLst>
                    <a:ext uri="{9D8B030D-6E8A-4147-A177-3AD203B41FA5}">
                      <a16:colId xmlns:a16="http://schemas.microsoft.com/office/drawing/2014/main" val="1381122829"/>
                    </a:ext>
                  </a:extLst>
                </a:gridCol>
                <a:gridCol w="2917703">
                  <a:extLst>
                    <a:ext uri="{9D8B030D-6E8A-4147-A177-3AD203B41FA5}">
                      <a16:colId xmlns:a16="http://schemas.microsoft.com/office/drawing/2014/main" val="2206656436"/>
                    </a:ext>
                  </a:extLst>
                </a:gridCol>
                <a:gridCol w="2806207">
                  <a:extLst>
                    <a:ext uri="{9D8B030D-6E8A-4147-A177-3AD203B41FA5}">
                      <a16:colId xmlns:a16="http://schemas.microsoft.com/office/drawing/2014/main" val="2419221689"/>
                    </a:ext>
                  </a:extLst>
                </a:gridCol>
              </a:tblGrid>
              <a:tr h="182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Step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Component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What Happens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Code Example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03513"/>
                  </a:ext>
                </a:extLst>
              </a:tr>
              <a:tr h="1004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1</a:t>
                      </a:r>
                      <a:endParaRPr lang="en-GB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User creates a message</a:t>
                      </a:r>
                      <a:endParaRPr lang="en-GB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We (the user) or another agent create a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dirty="0"/>
                        <a:t>. It’s an object that holds the message text and metadata (like who sent it).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python text_message = TextMessage(content="What is USD to INR today?", source="User")</a:t>
                      </a:r>
                      <a:endParaRPr lang="en-US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37942"/>
                  </a:ext>
                </a:extLst>
              </a:tr>
              <a:tr h="168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2</a:t>
                      </a:r>
                      <a:endParaRPr lang="en-GB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/>
                        <a:t>Agent receives message</a:t>
                      </a:r>
                      <a:endParaRPr lang="en-GB" sz="120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When we call the agent’s method (e.g., 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run()</a:t>
                      </a:r>
                      <a:r>
                        <a:rPr lang="en-US" sz="1200" dirty="0"/>
                        <a:t>,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run_stream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dirty="0"/>
                        <a:t>, or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handle_message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dirty="0"/>
                        <a:t>), we pass the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dirty="0"/>
                        <a:t>. </a:t>
                      </a:r>
                    </a:p>
                    <a:p>
                      <a:pPr>
                        <a:buNone/>
                      </a:pPr>
                      <a:endParaRPr lang="en-US" sz="1200" dirty="0"/>
                    </a:p>
                    <a:p>
                      <a:pPr>
                        <a:buNone/>
                      </a:pPr>
                      <a:r>
                        <a:rPr lang="en-US" sz="1200" dirty="0"/>
                        <a:t>The agent is designed to accept any </a:t>
                      </a:r>
                      <a:r>
                        <a:rPr lang="en-US" sz="1200" b="1" dirty="0" err="1">
                          <a:latin typeface="Courier New" panose="02070309020205020404" pitchFamily="49" charset="0"/>
                        </a:rPr>
                        <a:t>TextReference</a:t>
                      </a:r>
                      <a:r>
                        <a:rPr lang="en-US" sz="1200" dirty="0"/>
                        <a:t>, which includes both plain strings and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dirty="0"/>
                        <a:t> objects.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await agent.run_stream(task=text_message)</a:t>
                      </a:r>
                      <a:endParaRPr lang="en-US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935620"/>
                  </a:ext>
                </a:extLst>
              </a:tr>
              <a:tr h="1825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3</a:t>
                      </a:r>
                      <a:endParaRPr lang="en-GB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Agent converts it internally</a:t>
                      </a:r>
                      <a:endParaRPr lang="en-GB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Inside the agent’s logic, AutoGen converts the input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GB" sz="1200"/>
                        <a:t> into a </a:t>
                      </a:r>
                      <a:r>
                        <a:rPr lang="en-GB" sz="1200" b="1"/>
                        <a:t>model-ready format</a:t>
                      </a:r>
                      <a:r>
                        <a:rPr lang="en-GB" sz="1200"/>
                        <a:t> using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message.to_model_message()</a:t>
                      </a:r>
                      <a:r>
                        <a:rPr lang="en-GB" sz="1200"/>
                        <a:t> (from </a:t>
                      </a:r>
                      <a:r>
                        <a:rPr lang="en-GB" sz="1200">
                          <a:latin typeface="Courier New" panose="02070309020205020404" pitchFamily="49" charset="0"/>
                        </a:rPr>
                        <a:t>autogen_agentchat.messages</a:t>
                      </a:r>
                      <a:r>
                        <a:rPr lang="en-GB" sz="1200"/>
                        <a:t>). This produces the data structure that the LLM (Gemini, GPT-4, etc.) expects.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dirty="0"/>
                        <a:t>(Happens automatically — we don’t need to code it)</a:t>
                      </a:r>
                      <a:endParaRPr lang="en-US" sz="120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30398"/>
                  </a:ext>
                </a:extLst>
              </a:tr>
              <a:tr h="73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4</a:t>
                      </a:r>
                      <a:endParaRPr lang="en-GB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Model processes content</a:t>
                      </a:r>
                      <a:endParaRPr lang="en-GB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model_client</a:t>
                      </a:r>
                      <a:r>
                        <a:rPr lang="en-US" sz="1200"/>
                        <a:t> (e.g., Gemini or OpenAI) reads the text from the message and generates a response.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–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691036"/>
                  </a:ext>
                </a:extLst>
              </a:tr>
              <a:tr h="1004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/>
                        <a:t>5</a:t>
                      </a:r>
                      <a:endParaRPr lang="en-GB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Agent wraps model output back into a TextMessage</a:t>
                      </a:r>
                      <a:endParaRPr lang="en-US" sz="120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agent takes the LLM’s reply, wraps it in a new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/>
                        <a:t> (with </a:t>
                      </a:r>
                      <a:r>
                        <a:rPr lang="en-US" sz="1200">
                          <a:latin typeface="Courier New" panose="02070309020205020404" pitchFamily="49" charset="0"/>
                        </a:rPr>
                        <a:t>source="forex_agent"</a:t>
                      </a:r>
                      <a:r>
                        <a:rPr lang="en-US" sz="1200"/>
                        <a:t>), and returns it or streams it to the console/UI.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Example return object: 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(content="1 USD = 83.12 INR today!", source="</a:t>
                      </a:r>
                      <a:r>
                        <a:rPr lang="en-US" sz="120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200" dirty="0">
                          <a:latin typeface="Courier New" panose="02070309020205020404" pitchFamily="49" charset="0"/>
                        </a:rPr>
                        <a:t>")</a:t>
                      </a:r>
                      <a:endParaRPr lang="en-US" sz="120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504567"/>
                  </a:ext>
                </a:extLst>
              </a:tr>
            </a:tbl>
          </a:graphicData>
        </a:graphic>
      </p:graphicFrame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0D094379-3FEF-BEDC-57DC-512B13131928}"/>
              </a:ext>
            </a:extLst>
          </p:cNvPr>
          <p:cNvSpPr/>
          <p:nvPr/>
        </p:nvSpPr>
        <p:spPr>
          <a:xfrm>
            <a:off x="842123" y="2827560"/>
            <a:ext cx="1156962" cy="1026082"/>
          </a:xfrm>
          <a:prstGeom prst="foldedCorne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/>
              <a:t>TextMessage</a:t>
            </a:r>
            <a:endParaRPr lang="en-GB" sz="1400" dirty="0"/>
          </a:p>
        </p:txBody>
      </p:sp>
      <p:sp>
        <p:nvSpPr>
          <p:cNvPr id="20" name="Arrow: Striped Right 19">
            <a:extLst>
              <a:ext uri="{FF2B5EF4-FFF2-40B4-BE49-F238E27FC236}">
                <a16:creationId xmlns:a16="http://schemas.microsoft.com/office/drawing/2014/main" id="{9C7693DB-D4D1-CA4A-254D-46922A1BBEA1}"/>
              </a:ext>
            </a:extLst>
          </p:cNvPr>
          <p:cNvSpPr/>
          <p:nvPr/>
        </p:nvSpPr>
        <p:spPr>
          <a:xfrm rot="5400000">
            <a:off x="1179020" y="3955653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6FB903-5C20-B304-1D4E-6CF0E908ECFC}"/>
              </a:ext>
            </a:extLst>
          </p:cNvPr>
          <p:cNvSpPr txBox="1"/>
          <p:nvPr/>
        </p:nvSpPr>
        <p:spPr>
          <a:xfrm>
            <a:off x="1477183" y="4090715"/>
            <a:ext cx="17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 err="1"/>
              <a:t>AssistantAgent</a:t>
            </a:r>
            <a:endParaRPr lang="en-GB" b="1" dirty="0"/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F9A7454A-996B-005B-DF96-7AC88AEBB9F8}"/>
              </a:ext>
            </a:extLst>
          </p:cNvPr>
          <p:cNvSpPr/>
          <p:nvPr/>
        </p:nvSpPr>
        <p:spPr>
          <a:xfrm rot="5400000">
            <a:off x="1179020" y="5459963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930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A167-ED25-F185-436E-33FCD326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Synchronous Versus Asynchronous Agents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A78D7E-1C33-3542-DC77-2143142315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74" y="1427755"/>
          <a:ext cx="11161263" cy="5047869"/>
        </p:xfrm>
        <a:graphic>
          <a:graphicData uri="http://schemas.openxmlformats.org/drawingml/2006/table">
            <a:tbl>
              <a:tblPr/>
              <a:tblGrid>
                <a:gridCol w="1437912">
                  <a:extLst>
                    <a:ext uri="{9D8B030D-6E8A-4147-A177-3AD203B41FA5}">
                      <a16:colId xmlns:a16="http://schemas.microsoft.com/office/drawing/2014/main" val="4251616956"/>
                    </a:ext>
                  </a:extLst>
                </a:gridCol>
                <a:gridCol w="4718583">
                  <a:extLst>
                    <a:ext uri="{9D8B030D-6E8A-4147-A177-3AD203B41FA5}">
                      <a16:colId xmlns:a16="http://schemas.microsoft.com/office/drawing/2014/main" val="3566208410"/>
                    </a:ext>
                  </a:extLst>
                </a:gridCol>
                <a:gridCol w="5004768">
                  <a:extLst>
                    <a:ext uri="{9D8B030D-6E8A-4147-A177-3AD203B41FA5}">
                      <a16:colId xmlns:a16="http://schemas.microsoft.com/office/drawing/2014/main" val="537388861"/>
                    </a:ext>
                  </a:extLst>
                </a:gridCol>
              </a:tblGrid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Aspect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Synchronous Execution</a:t>
                      </a:r>
                      <a:endParaRPr lang="en-GB" sz="160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Asynchronous Execution (with </a:t>
                      </a:r>
                      <a:r>
                        <a:rPr lang="en-GB" sz="1600" b="1">
                          <a:latin typeface="Courier New" panose="02070309020205020404" pitchFamily="49" charset="0"/>
                        </a:rPr>
                        <a:t>await</a:t>
                      </a:r>
                      <a:r>
                        <a:rPr lang="en-GB" sz="1600" b="1"/>
                        <a:t>)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28090"/>
                  </a:ext>
                </a:extLst>
              </a:tr>
              <a:tr h="73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Definition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Tasks run one after another — the next starts only after the previous one finishes.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Tasks are </a:t>
                      </a:r>
                      <a:r>
                        <a:rPr lang="en-US" sz="1600" i="1"/>
                        <a:t>awaited</a:t>
                      </a:r>
                      <a:r>
                        <a:rPr lang="en-US" sz="1600"/>
                        <a:t> and can be paused while waiting for I/O (e.g., model response, network call), allowing other tasks to run concurrently.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885063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Execution Flow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Linear — each agent completes fully before the next begins.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Non-blocking — multiple agents or coroutines can run "in parallel" (cooperatively).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624741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When Used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later tasks depend on earlier outputs (e.g., description before context).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tasks are independent or can overlap safely.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91620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Performance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Slower if each call waits for external APIs or LLMs to finish.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Faster overall — allows concurrent model calls or background processing.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0635"/>
                  </a:ext>
                </a:extLst>
              </a:tr>
              <a:tr h="1282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Example</a:t>
                      </a:r>
                      <a:endParaRPr lang="en-GB" sz="160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# Runs one after another</a:t>
                      </a:r>
                    </a:p>
                    <a:p>
                      <a:pPr>
                        <a:buNone/>
                      </a:pPr>
                      <a:r>
                        <a:rPr lang="en-GB" sz="1600" dirty="0" err="1"/>
                        <a:t>desc</a:t>
                      </a:r>
                      <a:r>
                        <a:rPr lang="en-GB" sz="1600" dirty="0"/>
                        <a:t> = await </a:t>
                      </a:r>
                      <a:r>
                        <a:rPr lang="en-GB" sz="1600" dirty="0" err="1"/>
                        <a:t>desc_agent.on_messages</a:t>
                      </a:r>
                      <a:r>
                        <a:rPr lang="en-GB" sz="1600" dirty="0"/>
                        <a:t>([...])</a:t>
                      </a:r>
                    </a:p>
                    <a:p>
                      <a:pPr>
                        <a:buNone/>
                      </a:pPr>
                      <a:r>
                        <a:rPr lang="en-GB" sz="1600" dirty="0"/>
                        <a:t>context = await </a:t>
                      </a:r>
                      <a:r>
                        <a:rPr lang="en-GB" sz="1600" dirty="0" err="1"/>
                        <a:t>context_agent.on_messages</a:t>
                      </a:r>
                      <a:r>
                        <a:rPr lang="en-GB" sz="1600" dirty="0"/>
                        <a:t>([...])</a:t>
                      </a:r>
                    </a:p>
                    <a:p>
                      <a:pPr>
                        <a:buNone/>
                      </a:pPr>
                      <a:endParaRPr lang="en-GB" sz="160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latin typeface="Courier New" panose="02070309020205020404" pitchFamily="49" charset="0"/>
                        </a:rPr>
                        <a:t># Runs together (non-blocking)</a:t>
                      </a:r>
                    </a:p>
                    <a:p>
                      <a:pPr>
                        <a:buNone/>
                      </a:pP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desc_agent.on_messages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context_agent.on_messages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desc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, context = await </a:t>
                      </a: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asyncio.gather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GB" sz="90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GB" sz="900" dirty="0"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5068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Typical Use Case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Step-by-step reasoning or pipeline workflows.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Multi-agent systems where agents can think or act independently.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5172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Drawback</a:t>
                      </a:r>
                      <a:endParaRPr lang="en-GB" sz="160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Inefficient for I/O-heavy or independent tasks.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Harder to debug and manage shared state or dependencies.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03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87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3D3-2034-E5E2-BA2E-FE9082F3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Structured Output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10191A-F1AE-567A-6E7D-959D8E717A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83459" y="1810280"/>
          <a:ext cx="10954879" cy="3998168"/>
        </p:xfrm>
        <a:graphic>
          <a:graphicData uri="http://schemas.openxmlformats.org/drawingml/2006/table">
            <a:tbl>
              <a:tblPr/>
              <a:tblGrid>
                <a:gridCol w="2291656">
                  <a:extLst>
                    <a:ext uri="{9D8B030D-6E8A-4147-A177-3AD203B41FA5}">
                      <a16:colId xmlns:a16="http://schemas.microsoft.com/office/drawing/2014/main" val="3687287678"/>
                    </a:ext>
                  </a:extLst>
                </a:gridCol>
                <a:gridCol w="8663223">
                  <a:extLst>
                    <a:ext uri="{9D8B030D-6E8A-4147-A177-3AD203B41FA5}">
                      <a16:colId xmlns:a16="http://schemas.microsoft.com/office/drawing/2014/main" val="349754383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Concept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Description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3609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Purpose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Ensure the model returns responses in a pre-defined, machine-readable JSON format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928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Technique Used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Pydantic model schema to define expected fields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404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Dataset Source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https://www.kaggle.com/datasets/joykimaiyo18/linkedin-data-jobs-dataset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809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Task</a:t>
                      </a:r>
                      <a:endParaRPr lang="en-GB" sz="180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Read 5 job descriptions (description field) and extract company name, role, and location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7454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Agent Role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Extract structured information from unstructured job text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6539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Expected Output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JSON with keys: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company_name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role</a:t>
                      </a:r>
                      <a:r>
                        <a:rPr lang="en-US" sz="1800"/>
                        <a:t>, 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location</a:t>
                      </a:r>
                      <a:endParaRPr lang="en-US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3838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Advantage</a:t>
                      </a:r>
                      <a:endParaRPr lang="en-GB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Ensures consistent, easily parsed output for downstream automation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40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462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6D2D-1061-AD3A-0BB2-9BCA2E92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Teams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D3CC94-340D-26FB-D2F5-AE4119D9B9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2175" y="1659729"/>
          <a:ext cx="10916958" cy="5202088"/>
        </p:xfrm>
        <a:graphic>
          <a:graphicData uri="http://schemas.openxmlformats.org/drawingml/2006/table">
            <a:tbl>
              <a:tblPr/>
              <a:tblGrid>
                <a:gridCol w="2331370">
                  <a:extLst>
                    <a:ext uri="{9D8B030D-6E8A-4147-A177-3AD203B41FA5}">
                      <a16:colId xmlns:a16="http://schemas.microsoft.com/office/drawing/2014/main" val="285608543"/>
                    </a:ext>
                  </a:extLst>
                </a:gridCol>
                <a:gridCol w="4641802">
                  <a:extLst>
                    <a:ext uri="{9D8B030D-6E8A-4147-A177-3AD203B41FA5}">
                      <a16:colId xmlns:a16="http://schemas.microsoft.com/office/drawing/2014/main" val="541279669"/>
                    </a:ext>
                  </a:extLst>
                </a:gridCol>
                <a:gridCol w="3943786">
                  <a:extLst>
                    <a:ext uri="{9D8B030D-6E8A-4147-A177-3AD203B41FA5}">
                      <a16:colId xmlns:a16="http://schemas.microsoft.com/office/drawing/2014/main" val="274703207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Team Type</a:t>
                      </a:r>
                      <a:endParaRPr lang="en-GB" sz="160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Description</a:t>
                      </a:r>
                      <a:endParaRPr lang="en-GB" sz="160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</a:t>
                      </a:r>
                      <a:endParaRPr lang="en-GB" sz="160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979543"/>
                  </a:ext>
                </a:extLst>
              </a:tr>
              <a:tr h="147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RoundRobinGroupChat</a:t>
                      </a:r>
                      <a:endParaRPr lang="en-GB" sz="160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Agents take turns responding in a </a:t>
                      </a:r>
                      <a:r>
                        <a:rPr lang="en-US" sz="1600" b="1" dirty="0"/>
                        <a:t>round-robin</a:t>
                      </a:r>
                      <a:r>
                        <a:rPr lang="en-US" sz="1600" dirty="0"/>
                        <a:t> sequence. All share a </a:t>
                      </a:r>
                      <a:r>
                        <a:rPr lang="en-US" sz="1600" b="1" dirty="0"/>
                        <a:t>common conversation context</a:t>
                      </a:r>
                      <a:r>
                        <a:rPr lang="en-US" sz="1600" dirty="0"/>
                        <a:t>, and each agent’s response is </a:t>
                      </a:r>
                      <a:r>
                        <a:rPr lang="en-US" sz="1600" b="1" dirty="0"/>
                        <a:t>broadcast</a:t>
                      </a:r>
                      <a:r>
                        <a:rPr lang="en-US" sz="1600" dirty="0"/>
                        <a:t> to everyone for consistent understanding.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Two agents (Writer and Critic) alternately refine a blog post until the Critic replies </a:t>
                      </a:r>
                      <a:r>
                        <a:rPr lang="en-US" sz="1600" b="1"/>
                        <a:t>“APPROVE.”</a:t>
                      </a:r>
                      <a:endParaRPr lang="en-US" sz="160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65671"/>
                  </a:ext>
                </a:extLst>
              </a:tr>
              <a:tr h="1117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SelectorGroupChat</a:t>
                      </a:r>
                      <a:endParaRPr lang="en-GB" sz="160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Uses an </a:t>
                      </a:r>
                      <a:r>
                        <a:rPr lang="en-US" sz="1600" b="1" dirty="0"/>
                        <a:t>LLM to decide</a:t>
                      </a:r>
                      <a:r>
                        <a:rPr lang="en-US" sz="1600" dirty="0"/>
                        <a:t> which agent speaks next after each message. Each message is </a:t>
                      </a:r>
                      <a:r>
                        <a:rPr lang="en-US" sz="1600" b="1" dirty="0"/>
                        <a:t>shared with all</a:t>
                      </a:r>
                      <a:r>
                        <a:rPr lang="en-US" sz="1600" dirty="0"/>
                        <a:t> agents to maintain synchronized context.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group of agents where a </a:t>
                      </a:r>
                      <a:r>
                        <a:rPr lang="en-US" sz="1600" b="1" dirty="0"/>
                        <a:t>Reviewer</a:t>
                      </a:r>
                      <a:r>
                        <a:rPr lang="en-US" sz="1600" dirty="0"/>
                        <a:t>, </a:t>
                      </a:r>
                      <a:r>
                        <a:rPr lang="en-US" sz="1600" b="1" dirty="0"/>
                        <a:t>Coder</a:t>
                      </a:r>
                      <a:r>
                        <a:rPr lang="en-US" sz="1600" dirty="0"/>
                        <a:t>, and </a:t>
                      </a:r>
                      <a:r>
                        <a:rPr lang="en-US" sz="1600" b="1" dirty="0"/>
                        <a:t>Tester</a:t>
                      </a:r>
                      <a:r>
                        <a:rPr lang="en-US" sz="1600" dirty="0"/>
                        <a:t> interact dynamically — the LLM decides who contributes next.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127842"/>
                  </a:ext>
                </a:extLst>
              </a:tr>
              <a:tr h="764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MagenticOneGroupChat</a:t>
                      </a:r>
                      <a:endParaRPr lang="en-GB" sz="160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</a:t>
                      </a:r>
                      <a:r>
                        <a:rPr lang="en-US" sz="1600" b="1" dirty="0"/>
                        <a:t>general-purpose multi-agent framework</a:t>
                      </a:r>
                      <a:r>
                        <a:rPr lang="en-US" sz="1600" dirty="0"/>
                        <a:t> for handling </a:t>
                      </a:r>
                      <a:r>
                        <a:rPr lang="en-US" sz="1600" b="1" dirty="0"/>
                        <a:t>open-ended tasks</a:t>
                      </a:r>
                      <a:r>
                        <a:rPr lang="en-US" sz="1600" dirty="0"/>
                        <a:t> using web or file data across multiple domains.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Upload a </a:t>
                      </a:r>
                      <a:r>
                        <a:rPr lang="en-US" sz="1600" b="1" dirty="0"/>
                        <a:t>PDF report</a:t>
                      </a:r>
                      <a:r>
                        <a:rPr lang="en-US" sz="1600" dirty="0"/>
                        <a:t> or </a:t>
                      </a:r>
                      <a:r>
                        <a:rPr lang="en-US" sz="1600" b="1" dirty="0"/>
                        <a:t>web link</a:t>
                      </a:r>
                      <a:r>
                        <a:rPr lang="en-US" sz="1600" dirty="0"/>
                        <a:t>, and the team extracts, summarizes, and analyzes it automatically.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26391"/>
                  </a:ext>
                </a:extLst>
              </a:tr>
              <a:tr h="764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Swarm</a:t>
                      </a:r>
                      <a:endParaRPr lang="en-GB" sz="160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</a:t>
                      </a:r>
                      <a:r>
                        <a:rPr lang="en-US" sz="1600" b="1" dirty="0"/>
                        <a:t>coordinated agent system</a:t>
                      </a:r>
                      <a:r>
                        <a:rPr lang="en-US" sz="1600" dirty="0"/>
                        <a:t> where one agent can </a:t>
                      </a:r>
                      <a:r>
                        <a:rPr lang="en-US" sz="1600" b="1" dirty="0"/>
                        <a:t>handoff control</a:t>
                      </a:r>
                      <a:r>
                        <a:rPr lang="en-US" sz="1600" dirty="0"/>
                        <a:t> to another using 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HandoffMessage</a:t>
                      </a:r>
                      <a:r>
                        <a:rPr lang="en-US" sz="1600" dirty="0"/>
                        <a:t>, allowing smooth </a:t>
                      </a:r>
                      <a:r>
                        <a:rPr lang="en-US" sz="1600" b="1" dirty="0"/>
                        <a:t>task transitions</a:t>
                      </a:r>
                      <a:r>
                        <a:rPr lang="en-US" sz="1600" b="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US" sz="1600" b="0" dirty="0"/>
                        <a:t>Still being developed by </a:t>
                      </a:r>
                      <a:r>
                        <a:rPr lang="en-US" sz="1600" b="0" dirty="0" err="1"/>
                        <a:t>Autogen</a:t>
                      </a:r>
                      <a:r>
                        <a:rPr lang="en-US" sz="1600" b="0" dirty="0"/>
                        <a:t> (See </a:t>
                      </a:r>
                      <a:r>
                        <a:rPr lang="en-GB" sz="1600" dirty="0">
                          <a:hlinkClick r:id="rId2"/>
                        </a:rPr>
                        <a:t>Handoffs — </a:t>
                      </a:r>
                      <a:r>
                        <a:rPr lang="en-GB" sz="1600" dirty="0" err="1">
                          <a:hlinkClick r:id="rId2"/>
                        </a:rPr>
                        <a:t>AutoGen</a:t>
                      </a:r>
                      <a:r>
                        <a:rPr lang="en-GB" sz="1600" dirty="0"/>
                        <a:t>)</a:t>
                      </a:r>
                      <a:endParaRPr lang="en-US" sz="160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</a:t>
                      </a:r>
                      <a:r>
                        <a:rPr lang="en-US" sz="1600" b="1" dirty="0" err="1"/>
                        <a:t>DataCollector</a:t>
                      </a:r>
                      <a:r>
                        <a:rPr lang="en-US" sz="1600" dirty="0"/>
                        <a:t> agent fetches API data, then passes results to a </a:t>
                      </a:r>
                      <a:r>
                        <a:rPr lang="en-US" sz="1600" b="1" dirty="0" err="1"/>
                        <a:t>DataAnalyzer</a:t>
                      </a:r>
                      <a:r>
                        <a:rPr lang="en-US" sz="1600" dirty="0"/>
                        <a:t> agent for visualization.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37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294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8B71-649C-14B9-077C-596CA2A8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Autogen</a:t>
            </a:r>
            <a:r>
              <a:rPr lang="en-IN" dirty="0"/>
              <a:t> </a:t>
            </a:r>
            <a:r>
              <a:rPr lang="en-IN" dirty="0" err="1"/>
              <a:t>GraphFlow</a:t>
            </a:r>
            <a:r>
              <a:rPr lang="en-IN" dirty="0"/>
              <a:t> (Similar to </a:t>
            </a:r>
            <a:r>
              <a:rPr lang="en-IN" dirty="0" err="1"/>
              <a:t>LangGraph</a:t>
            </a:r>
            <a:r>
              <a:rPr lang="en-IN" dirty="0"/>
              <a:t>)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65B614-3204-6EB5-80B2-86A006E07D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28359" y="1501964"/>
          <a:ext cx="10515599" cy="5092480"/>
        </p:xfrm>
        <a:graphic>
          <a:graphicData uri="http://schemas.openxmlformats.org/drawingml/2006/table">
            <a:tbl>
              <a:tblPr/>
              <a:tblGrid>
                <a:gridCol w="2261570">
                  <a:extLst>
                    <a:ext uri="{9D8B030D-6E8A-4147-A177-3AD203B41FA5}">
                      <a16:colId xmlns:a16="http://schemas.microsoft.com/office/drawing/2014/main" val="3066366788"/>
                    </a:ext>
                  </a:extLst>
                </a:gridCol>
                <a:gridCol w="8254029">
                  <a:extLst>
                    <a:ext uri="{9D8B030D-6E8A-4147-A177-3AD203B41FA5}">
                      <a16:colId xmlns:a16="http://schemas.microsoft.com/office/drawing/2014/main" val="3891484686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Feature / Aspect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Description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3522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Purpose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Orchestrate multi-agent workflows using a </a:t>
                      </a:r>
                      <a:r>
                        <a:rPr lang="en-US" sz="1800" b="1"/>
                        <a:t>directed graph</a:t>
                      </a:r>
                      <a:r>
                        <a:rPr lang="en-US" sz="1800"/>
                        <a:t> instead of linear chains.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2919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Nodes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Represent </a:t>
                      </a:r>
                      <a:r>
                        <a:rPr lang="en-GB" sz="1800" b="1"/>
                        <a:t>agents</a:t>
                      </a:r>
                      <a:r>
                        <a:rPr lang="en-GB" sz="1800"/>
                        <a:t> or </a:t>
                      </a:r>
                      <a:r>
                        <a:rPr lang="en-GB" sz="1800" b="1"/>
                        <a:t>tools</a:t>
                      </a:r>
                      <a:r>
                        <a:rPr lang="en-GB" sz="180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66015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Edges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Define </a:t>
                      </a:r>
                      <a:r>
                        <a:rPr lang="en-US" sz="1800" b="1"/>
                        <a:t>possible transitions</a:t>
                      </a:r>
                      <a:r>
                        <a:rPr lang="en-US" sz="1800"/>
                        <a:t> between nodes (can include conditional logic).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2278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Flow Control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Supports </a:t>
                      </a:r>
                      <a:r>
                        <a:rPr lang="en-US" sz="1800" b="1"/>
                        <a:t>branching, loops, and conditional transitions</a:t>
                      </a:r>
                      <a:r>
                        <a:rPr lang="en-US" sz="1800"/>
                        <a:t> for complex workflows.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342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Start Node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Defines the </a:t>
                      </a:r>
                      <a:r>
                        <a:rPr lang="en-US" sz="1800" b="1"/>
                        <a:t>entry point</a:t>
                      </a:r>
                      <a:r>
                        <a:rPr lang="en-US" sz="1800"/>
                        <a:t> of the workflow.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46995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Termination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Can define </a:t>
                      </a:r>
                      <a:r>
                        <a:rPr lang="en-US" sz="1800" b="1"/>
                        <a:t>end conditions</a:t>
                      </a:r>
                      <a:r>
                        <a:rPr lang="en-US" sz="1800"/>
                        <a:t> such as max turns, signals from agents, or workflow completion.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05153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Use Case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Multi-agent collaboration, RAG workflows, NLP/CV pipelines, editing/review tasks, etc.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707517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Integration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Works within Microsoft AutoGen’s </a:t>
                      </a:r>
                      <a:r>
                        <a:rPr lang="en-US" sz="1800" b="1"/>
                        <a:t>teams and agents framework</a:t>
                      </a:r>
                      <a:r>
                        <a:rPr lang="en-US" sz="180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009037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Advantages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Structured orchestration, clearer workflow logic, supports parallel and sequential execution.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32627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Limitations / Notes</a:t>
                      </a:r>
                      <a:endParaRPr lang="en-GB" sz="180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Experimental, subject to API changes, requires careful debugging and termination design.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0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723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EFE9-ED4B-E081-7AC3-FF75D141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10590A-CCC0-42FF-212E-A6B9B8FDEF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74651" y="1776914"/>
          <a:ext cx="10879149" cy="4435771"/>
        </p:xfrm>
        <a:graphic>
          <a:graphicData uri="http://schemas.openxmlformats.org/drawingml/2006/table">
            <a:tbl>
              <a:tblPr/>
              <a:tblGrid>
                <a:gridCol w="3626383">
                  <a:extLst>
                    <a:ext uri="{9D8B030D-6E8A-4147-A177-3AD203B41FA5}">
                      <a16:colId xmlns:a16="http://schemas.microsoft.com/office/drawing/2014/main" val="88089299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138036712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3998865787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Concept / Memory Type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What it Does (Simple)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When to Use / Example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674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Memory (general)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Stores info from conversation for later use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Remember facts about user, context, or previous answers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82200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add()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Add info to memory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“User’s name is Alice”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934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query()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Retrieve relevant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“What did user ask before?”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02114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update_context()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Add memory info to agent’s current context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Use retrieved facts in current answer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24172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clear()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Delete all stored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Start fresh conversation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7089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close()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Clean up resources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Close vector DB or file store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5320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ListMemory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Simple chronological memory (like a list)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Demo or small tasks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06860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Vector / External Memory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Stores info in vector DB for semantic search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For RAG workflows, document retrieval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66759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RAG (Retrieval Augmented Generation)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Agent uses retrieved documents to answer better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Answer questions using external knowledge/documents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47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1729</Words>
  <Application>Microsoft Office PowerPoint</Application>
  <PresentationFormat>Widescreen</PresentationFormat>
  <Paragraphs>222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5) Autogen</vt:lpstr>
      <vt:lpstr>Autogen</vt:lpstr>
      <vt:lpstr>PowerPoint Presentation</vt:lpstr>
      <vt:lpstr>AssistantAgent</vt:lpstr>
      <vt:lpstr>TextMessage</vt:lpstr>
      <vt:lpstr>Synchronous Versus Asynchronous Agents</vt:lpstr>
      <vt:lpstr>Structured Output</vt:lpstr>
      <vt:lpstr>Teams</vt:lpstr>
      <vt:lpstr>Autogen GraphFlow (Similar to LangGraph)</vt:lpstr>
      <vt:lpstr>Memory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</cp:revision>
  <dcterms:created xsi:type="dcterms:W3CDTF">2025-10-14T12:57:06Z</dcterms:created>
  <dcterms:modified xsi:type="dcterms:W3CDTF">2025-11-14T14:50:58Z</dcterms:modified>
</cp:coreProperties>
</file>